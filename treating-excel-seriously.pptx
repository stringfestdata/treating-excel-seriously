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425" r:id="rId3"/>
    <p:sldId id="426" r:id="rId4"/>
    <p:sldId id="458" r:id="rId5"/>
    <p:sldId id="459" r:id="rId6"/>
    <p:sldId id="460" r:id="rId7"/>
    <p:sldId id="461" r:id="rId8"/>
    <p:sldId id="462" r:id="rId9"/>
    <p:sldId id="463" r:id="rId10"/>
    <p:sldId id="464" r:id="rId11"/>
    <p:sldId id="465" r:id="rId12"/>
    <p:sldId id="466" r:id="rId13"/>
    <p:sldId id="467" r:id="rId14"/>
    <p:sldId id="427" r:id="rId15"/>
    <p:sldId id="453" r:id="rId16"/>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63484" autoAdjust="0"/>
  </p:normalViewPr>
  <p:slideViewPr>
    <p:cSldViewPr>
      <p:cViewPr varScale="1">
        <p:scale>
          <a:sx n="31" d="100"/>
          <a:sy n="31" d="100"/>
        </p:scale>
        <p:origin x="912" y="53"/>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48DA5D-A0F9-4504-9C4A-C8D42AD70298}"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397F9A8B-7E6A-427C-8CDE-2002F0FEEF25}">
      <dgm:prSet phldrT="[Text]" phldr="0" custT="1"/>
      <dgm:spPr>
        <a:solidFill>
          <a:srgbClr val="CF3338"/>
        </a:solidFill>
      </dgm:spPr>
      <dgm:t>
        <a:bodyPr/>
        <a:lstStyle/>
        <a:p>
          <a:r>
            <a:rPr lang="en-US" sz="4400" dirty="0"/>
            <a:t>Repeatable reporting</a:t>
          </a:r>
        </a:p>
      </dgm:t>
    </dgm:pt>
    <dgm:pt modelId="{02EABD84-BF7B-43EC-9B77-E118E9225D57}" type="parTrans" cxnId="{5658A723-79A9-4985-A83E-38B9DA78ED1B}">
      <dgm:prSet/>
      <dgm:spPr/>
      <dgm:t>
        <a:bodyPr/>
        <a:lstStyle/>
        <a:p>
          <a:endParaRPr lang="en-US"/>
        </a:p>
      </dgm:t>
    </dgm:pt>
    <dgm:pt modelId="{B33172C1-0C58-46A6-8E4D-985DB84BDBAC}" type="sibTrans" cxnId="{5658A723-79A9-4985-A83E-38B9DA78ED1B}">
      <dgm:prSet/>
      <dgm:spPr/>
      <dgm:t>
        <a:bodyPr/>
        <a:lstStyle/>
        <a:p>
          <a:endParaRPr lang="en-US"/>
        </a:p>
      </dgm:t>
    </dgm:pt>
    <dgm:pt modelId="{F6A314E0-9FF3-4139-B2E4-BACE056C10F0}">
      <dgm:prSet phldrT="[Text]" phldr="0" custT="1"/>
      <dgm:spPr>
        <a:solidFill>
          <a:srgbClr val="CF3338"/>
        </a:solidFill>
      </dgm:spPr>
      <dgm:t>
        <a:bodyPr/>
        <a:lstStyle/>
        <a:p>
          <a:r>
            <a:rPr lang="en-US" sz="4800" dirty="0"/>
            <a:t>Competing needs</a:t>
          </a:r>
        </a:p>
      </dgm:t>
    </dgm:pt>
    <dgm:pt modelId="{EB14B043-36A0-4F81-9FC9-D77FA38DDC77}" type="parTrans" cxnId="{FC31D7FD-0274-4430-8EC2-EA9C7FAA5375}">
      <dgm:prSet/>
      <dgm:spPr/>
      <dgm:t>
        <a:bodyPr/>
        <a:lstStyle/>
        <a:p>
          <a:endParaRPr lang="en-US"/>
        </a:p>
      </dgm:t>
    </dgm:pt>
    <dgm:pt modelId="{A45B2DAA-B1FE-46D8-9891-EE5D8726200C}" type="sibTrans" cxnId="{FC31D7FD-0274-4430-8EC2-EA9C7FAA5375}">
      <dgm:prSet/>
      <dgm:spPr/>
      <dgm:t>
        <a:bodyPr/>
        <a:lstStyle/>
        <a:p>
          <a:endParaRPr lang="en-US"/>
        </a:p>
      </dgm:t>
    </dgm:pt>
    <dgm:pt modelId="{891F0A84-ED13-4725-8E20-6120A082013F}">
      <dgm:prSet phldrT="[Text]" custT="1"/>
      <dgm:spPr>
        <a:solidFill>
          <a:srgbClr val="CF3338"/>
        </a:solidFill>
      </dgm:spPr>
      <dgm:t>
        <a:bodyPr/>
        <a:lstStyle/>
        <a:p>
          <a:r>
            <a:rPr lang="en-US" sz="4800" dirty="0"/>
            <a:t>Personal analysis &amp; quick checks</a:t>
          </a:r>
        </a:p>
      </dgm:t>
    </dgm:pt>
    <dgm:pt modelId="{20337035-8EE0-40E2-87A5-02A30B024F3C}" type="parTrans" cxnId="{E28F34D1-F3C4-4CBF-B2C1-BAD0DD50FD59}">
      <dgm:prSet/>
      <dgm:spPr/>
      <dgm:t>
        <a:bodyPr/>
        <a:lstStyle/>
        <a:p>
          <a:endParaRPr lang="en-US"/>
        </a:p>
      </dgm:t>
    </dgm:pt>
    <dgm:pt modelId="{F45723E6-698F-4435-BE15-2DE7E79CFF55}" type="sibTrans" cxnId="{E28F34D1-F3C4-4CBF-B2C1-BAD0DD50FD59}">
      <dgm:prSet/>
      <dgm:spPr/>
      <dgm:t>
        <a:bodyPr/>
        <a:lstStyle/>
        <a:p>
          <a:endParaRPr lang="en-US"/>
        </a:p>
      </dgm:t>
    </dgm:pt>
    <dgm:pt modelId="{3ECCA8D6-2A2B-475C-9806-4F8A51F8F63E}">
      <dgm:prSet phldrT="[Text]" phldr="0" custT="1"/>
      <dgm:spPr>
        <a:solidFill>
          <a:srgbClr val="CF3338"/>
        </a:solidFill>
      </dgm:spPr>
      <dgm:t>
        <a:bodyPr/>
        <a:lstStyle/>
        <a:p>
          <a:r>
            <a:rPr lang="en-US" sz="4400" dirty="0"/>
            <a:t>Exploration, scenarios, and “What if”</a:t>
          </a:r>
        </a:p>
      </dgm:t>
    </dgm:pt>
    <dgm:pt modelId="{9165DDC7-CF59-4275-A0CF-7ECED7E5AD15}" type="parTrans" cxnId="{026858C1-4DA2-46EA-8DCF-918A6FBB1384}">
      <dgm:prSet/>
      <dgm:spPr/>
      <dgm:t>
        <a:bodyPr/>
        <a:lstStyle/>
        <a:p>
          <a:endParaRPr lang="en-US"/>
        </a:p>
      </dgm:t>
    </dgm:pt>
    <dgm:pt modelId="{871F2948-2534-4F5D-95A8-694490BEA89D}" type="sibTrans" cxnId="{026858C1-4DA2-46EA-8DCF-918A6FBB1384}">
      <dgm:prSet/>
      <dgm:spPr/>
      <dgm:t>
        <a:bodyPr/>
        <a:lstStyle/>
        <a:p>
          <a:endParaRPr lang="en-US"/>
        </a:p>
      </dgm:t>
    </dgm:pt>
    <dgm:pt modelId="{4954C599-943C-4E41-BB7B-BC96F7341DEF}" type="pres">
      <dgm:prSet presAssocID="{AE48DA5D-A0F9-4504-9C4A-C8D42AD70298}" presName="matrix" presStyleCnt="0">
        <dgm:presLayoutVars>
          <dgm:chMax val="1"/>
          <dgm:dir/>
          <dgm:resizeHandles val="exact"/>
        </dgm:presLayoutVars>
      </dgm:prSet>
      <dgm:spPr/>
    </dgm:pt>
    <dgm:pt modelId="{393E082B-C5F8-4195-ADEE-E56F18CBAED7}" type="pres">
      <dgm:prSet presAssocID="{AE48DA5D-A0F9-4504-9C4A-C8D42AD70298}" presName="axisShape" presStyleLbl="bgShp" presStyleIdx="0" presStyleCnt="1"/>
      <dgm:spPr/>
    </dgm:pt>
    <dgm:pt modelId="{64D717D4-E5B6-4C42-A541-FBF628E1E9AE}" type="pres">
      <dgm:prSet presAssocID="{AE48DA5D-A0F9-4504-9C4A-C8D42AD70298}" presName="rect1" presStyleLbl="node1" presStyleIdx="0" presStyleCnt="4">
        <dgm:presLayoutVars>
          <dgm:chMax val="0"/>
          <dgm:chPref val="0"/>
          <dgm:bulletEnabled val="1"/>
        </dgm:presLayoutVars>
      </dgm:prSet>
      <dgm:spPr/>
    </dgm:pt>
    <dgm:pt modelId="{C170CAE2-B353-4B39-9F29-53896209F55E}" type="pres">
      <dgm:prSet presAssocID="{AE48DA5D-A0F9-4504-9C4A-C8D42AD70298}" presName="rect2" presStyleLbl="node1" presStyleIdx="1" presStyleCnt="4">
        <dgm:presLayoutVars>
          <dgm:chMax val="0"/>
          <dgm:chPref val="0"/>
          <dgm:bulletEnabled val="1"/>
        </dgm:presLayoutVars>
      </dgm:prSet>
      <dgm:spPr/>
    </dgm:pt>
    <dgm:pt modelId="{F1142FEF-1964-4950-95FA-888CA15C59AC}" type="pres">
      <dgm:prSet presAssocID="{AE48DA5D-A0F9-4504-9C4A-C8D42AD70298}" presName="rect3" presStyleLbl="node1" presStyleIdx="2" presStyleCnt="4">
        <dgm:presLayoutVars>
          <dgm:chMax val="0"/>
          <dgm:chPref val="0"/>
          <dgm:bulletEnabled val="1"/>
        </dgm:presLayoutVars>
      </dgm:prSet>
      <dgm:spPr/>
    </dgm:pt>
    <dgm:pt modelId="{D1C06DA0-5B46-407A-B1E4-1C281173DF4F}" type="pres">
      <dgm:prSet presAssocID="{AE48DA5D-A0F9-4504-9C4A-C8D42AD70298}" presName="rect4" presStyleLbl="node1" presStyleIdx="3" presStyleCnt="4">
        <dgm:presLayoutVars>
          <dgm:chMax val="0"/>
          <dgm:chPref val="0"/>
          <dgm:bulletEnabled val="1"/>
        </dgm:presLayoutVars>
      </dgm:prSet>
      <dgm:spPr/>
    </dgm:pt>
  </dgm:ptLst>
  <dgm:cxnLst>
    <dgm:cxn modelId="{5658A723-79A9-4985-A83E-38B9DA78ED1B}" srcId="{AE48DA5D-A0F9-4504-9C4A-C8D42AD70298}" destId="{397F9A8B-7E6A-427C-8CDE-2002F0FEEF25}" srcOrd="0" destOrd="0" parTransId="{02EABD84-BF7B-43EC-9B77-E118E9225D57}" sibTransId="{B33172C1-0C58-46A6-8E4D-985DB84BDBAC}"/>
    <dgm:cxn modelId="{540C0930-031B-4FDD-AD91-0169B8691247}" type="presOf" srcId="{397F9A8B-7E6A-427C-8CDE-2002F0FEEF25}" destId="{64D717D4-E5B6-4C42-A541-FBF628E1E9AE}" srcOrd="0" destOrd="0" presId="urn:microsoft.com/office/officeart/2005/8/layout/matrix2"/>
    <dgm:cxn modelId="{1DF7D638-D7DF-4634-A887-0F80A5EE960F}" type="presOf" srcId="{AE48DA5D-A0F9-4504-9C4A-C8D42AD70298}" destId="{4954C599-943C-4E41-BB7B-BC96F7341DEF}" srcOrd="0" destOrd="0" presId="urn:microsoft.com/office/officeart/2005/8/layout/matrix2"/>
    <dgm:cxn modelId="{4DD0B042-C6E8-4D4D-B277-F9D9E4966D25}" type="presOf" srcId="{F6A314E0-9FF3-4139-B2E4-BACE056C10F0}" destId="{C170CAE2-B353-4B39-9F29-53896209F55E}" srcOrd="0" destOrd="0" presId="urn:microsoft.com/office/officeart/2005/8/layout/matrix2"/>
    <dgm:cxn modelId="{CF8813B7-A76F-4875-92B1-5B1085621CE2}" type="presOf" srcId="{3ECCA8D6-2A2B-475C-9806-4F8A51F8F63E}" destId="{D1C06DA0-5B46-407A-B1E4-1C281173DF4F}" srcOrd="0" destOrd="0" presId="urn:microsoft.com/office/officeart/2005/8/layout/matrix2"/>
    <dgm:cxn modelId="{026858C1-4DA2-46EA-8DCF-918A6FBB1384}" srcId="{AE48DA5D-A0F9-4504-9C4A-C8D42AD70298}" destId="{3ECCA8D6-2A2B-475C-9806-4F8A51F8F63E}" srcOrd="3" destOrd="0" parTransId="{9165DDC7-CF59-4275-A0CF-7ECED7E5AD15}" sibTransId="{871F2948-2534-4F5D-95A8-694490BEA89D}"/>
    <dgm:cxn modelId="{E28F34D1-F3C4-4CBF-B2C1-BAD0DD50FD59}" srcId="{AE48DA5D-A0F9-4504-9C4A-C8D42AD70298}" destId="{891F0A84-ED13-4725-8E20-6120A082013F}" srcOrd="2" destOrd="0" parTransId="{20337035-8EE0-40E2-87A5-02A30B024F3C}" sibTransId="{F45723E6-698F-4435-BE15-2DE7E79CFF55}"/>
    <dgm:cxn modelId="{4C920CDF-15C9-4C7D-8772-523F10D89FCA}" type="presOf" srcId="{891F0A84-ED13-4725-8E20-6120A082013F}" destId="{F1142FEF-1964-4950-95FA-888CA15C59AC}" srcOrd="0" destOrd="0" presId="urn:microsoft.com/office/officeart/2005/8/layout/matrix2"/>
    <dgm:cxn modelId="{FC31D7FD-0274-4430-8EC2-EA9C7FAA5375}" srcId="{AE48DA5D-A0F9-4504-9C4A-C8D42AD70298}" destId="{F6A314E0-9FF3-4139-B2E4-BACE056C10F0}" srcOrd="1" destOrd="0" parTransId="{EB14B043-36A0-4F81-9FC9-D77FA38DDC77}" sibTransId="{A45B2DAA-B1FE-46D8-9891-EE5D8726200C}"/>
    <dgm:cxn modelId="{50197546-B4C2-4B2A-B272-D670DB47EA95}" type="presParOf" srcId="{4954C599-943C-4E41-BB7B-BC96F7341DEF}" destId="{393E082B-C5F8-4195-ADEE-E56F18CBAED7}" srcOrd="0" destOrd="0" presId="urn:microsoft.com/office/officeart/2005/8/layout/matrix2"/>
    <dgm:cxn modelId="{42B4F310-073C-4BDD-BA6C-3CA5816C4A4F}" type="presParOf" srcId="{4954C599-943C-4E41-BB7B-BC96F7341DEF}" destId="{64D717D4-E5B6-4C42-A541-FBF628E1E9AE}" srcOrd="1" destOrd="0" presId="urn:microsoft.com/office/officeart/2005/8/layout/matrix2"/>
    <dgm:cxn modelId="{C52C5813-E999-4C3A-B727-C9A3869422BD}" type="presParOf" srcId="{4954C599-943C-4E41-BB7B-BC96F7341DEF}" destId="{C170CAE2-B353-4B39-9F29-53896209F55E}" srcOrd="2" destOrd="0" presId="urn:microsoft.com/office/officeart/2005/8/layout/matrix2"/>
    <dgm:cxn modelId="{9A0EE688-33D7-45C8-9D3B-015FEA16D562}" type="presParOf" srcId="{4954C599-943C-4E41-BB7B-BC96F7341DEF}" destId="{F1142FEF-1964-4950-95FA-888CA15C59AC}" srcOrd="3" destOrd="0" presId="urn:microsoft.com/office/officeart/2005/8/layout/matrix2"/>
    <dgm:cxn modelId="{AA83FF33-E49A-46FD-B3D0-AB982722347C}" type="presParOf" srcId="{4954C599-943C-4E41-BB7B-BC96F7341DEF}" destId="{D1C06DA0-5B46-407A-B1E4-1C281173DF4F}" srcOrd="4" destOrd="0" presId="urn:microsoft.com/office/officeart/2005/8/layout/matrix2"/>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798DD1-6FC4-4C34-9F3F-53BBEB998853}"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21FE27EC-10F4-47A1-8FD5-CD3496F54607}">
      <dgm:prSet phldrT="[Text]" phldr="0"/>
      <dgm:spPr>
        <a:solidFill>
          <a:srgbClr val="C00000"/>
        </a:solidFill>
      </dgm:spPr>
      <dgm:t>
        <a:bodyPr/>
        <a:lstStyle/>
        <a:p>
          <a:r>
            <a:rPr lang="en-US" b="1" dirty="0"/>
            <a:t>Individuals</a:t>
          </a:r>
        </a:p>
      </dgm:t>
    </dgm:pt>
    <dgm:pt modelId="{FF3D7B0C-E2C4-49B8-8C4B-AF120BF1E2B9}" type="parTrans" cxnId="{6C0172DF-D88B-41D4-B3F5-CA15E159222B}">
      <dgm:prSet/>
      <dgm:spPr/>
      <dgm:t>
        <a:bodyPr/>
        <a:lstStyle/>
        <a:p>
          <a:endParaRPr lang="en-US"/>
        </a:p>
      </dgm:t>
    </dgm:pt>
    <dgm:pt modelId="{969895C4-5161-439F-BA5B-C7930ADA9517}" type="sibTrans" cxnId="{6C0172DF-D88B-41D4-B3F5-CA15E159222B}">
      <dgm:prSet/>
      <dgm:spPr/>
      <dgm:t>
        <a:bodyPr/>
        <a:lstStyle/>
        <a:p>
          <a:endParaRPr lang="en-US"/>
        </a:p>
      </dgm:t>
    </dgm:pt>
    <dgm:pt modelId="{C24B2941-8C4E-47E5-93BE-9390D2CDBC89}">
      <dgm:prSet phldrT="[Text]" phldr="0"/>
      <dgm:spPr>
        <a:ln>
          <a:solidFill>
            <a:schemeClr val="bg1">
              <a:lumMod val="50000"/>
            </a:schemeClr>
          </a:solidFill>
        </a:ln>
      </dgm:spPr>
      <dgm:t>
        <a:bodyPr/>
        <a:lstStyle/>
        <a:p>
          <a:r>
            <a:rPr lang="en-US" dirty="0"/>
            <a:t>Self-paced courses &amp; live workshops</a:t>
          </a:r>
        </a:p>
      </dgm:t>
    </dgm:pt>
    <dgm:pt modelId="{C97A6C3A-9B27-45E4-8D96-A0B3EE805D38}" type="parTrans" cxnId="{6C6CBB06-B18A-42AC-8E9C-1FECB4298C8E}">
      <dgm:prSet/>
      <dgm:spPr/>
      <dgm:t>
        <a:bodyPr/>
        <a:lstStyle/>
        <a:p>
          <a:endParaRPr lang="en-US"/>
        </a:p>
      </dgm:t>
    </dgm:pt>
    <dgm:pt modelId="{95B33339-D74D-43E7-BBDD-70E0EB607FD8}" type="sibTrans" cxnId="{6C6CBB06-B18A-42AC-8E9C-1FECB4298C8E}">
      <dgm:prSet/>
      <dgm:spPr/>
      <dgm:t>
        <a:bodyPr/>
        <a:lstStyle/>
        <a:p>
          <a:endParaRPr lang="en-US"/>
        </a:p>
      </dgm:t>
    </dgm:pt>
    <dgm:pt modelId="{B4C039DB-28DF-4F2E-9047-FCE10E8B50F4}">
      <dgm:prSet phldrT="[Text]" phldr="0"/>
      <dgm:spPr>
        <a:ln>
          <a:solidFill>
            <a:schemeClr val="bg1">
              <a:lumMod val="50000"/>
            </a:schemeClr>
          </a:solidFill>
        </a:ln>
      </dgm:spPr>
      <dgm:t>
        <a:bodyPr/>
        <a:lstStyle/>
        <a:p>
          <a:r>
            <a:rPr lang="en-US" dirty="0"/>
            <a:t>Learn when to use formulas, Power Query, Python, and Copilot</a:t>
          </a:r>
        </a:p>
      </dgm:t>
    </dgm:pt>
    <dgm:pt modelId="{88E2D7DD-A20A-4D82-B7BA-495E3CA5520E}" type="parTrans" cxnId="{08744D63-46D0-44D2-900A-8851AAD8CEA3}">
      <dgm:prSet/>
      <dgm:spPr/>
      <dgm:t>
        <a:bodyPr/>
        <a:lstStyle/>
        <a:p>
          <a:endParaRPr lang="en-US"/>
        </a:p>
      </dgm:t>
    </dgm:pt>
    <dgm:pt modelId="{EFC160FF-009E-419D-9011-2FCCED5BFCAE}" type="sibTrans" cxnId="{08744D63-46D0-44D2-900A-8851AAD8CEA3}">
      <dgm:prSet/>
      <dgm:spPr/>
      <dgm:t>
        <a:bodyPr/>
        <a:lstStyle/>
        <a:p>
          <a:endParaRPr lang="en-US"/>
        </a:p>
      </dgm:t>
    </dgm:pt>
    <dgm:pt modelId="{31E0BBA0-32AB-44DE-85CB-3C80E6846810}">
      <dgm:prSet phldrT="[Text]" phldr="0"/>
      <dgm:spPr>
        <a:ln>
          <a:solidFill>
            <a:schemeClr val="bg1">
              <a:lumMod val="50000"/>
            </a:schemeClr>
          </a:solidFill>
        </a:ln>
      </dgm:spPr>
      <dgm:t>
        <a:bodyPr/>
        <a:lstStyle/>
        <a:p>
          <a:r>
            <a:rPr lang="en-US" dirty="0"/>
            <a:t>Focus on clarity, maintainability, and confidence</a:t>
          </a:r>
        </a:p>
      </dgm:t>
    </dgm:pt>
    <dgm:pt modelId="{BDE34EB0-9E1B-4FF4-9FC7-70742D76E4E6}" type="parTrans" cxnId="{9453C970-A133-42A1-BB1A-7672CEFA0687}">
      <dgm:prSet/>
      <dgm:spPr/>
      <dgm:t>
        <a:bodyPr/>
        <a:lstStyle/>
        <a:p>
          <a:endParaRPr lang="en-US"/>
        </a:p>
      </dgm:t>
    </dgm:pt>
    <dgm:pt modelId="{45E94802-E21A-4AC8-ACCB-FA38B41DCB9F}" type="sibTrans" cxnId="{9453C970-A133-42A1-BB1A-7672CEFA0687}">
      <dgm:prSet/>
      <dgm:spPr/>
      <dgm:t>
        <a:bodyPr/>
        <a:lstStyle/>
        <a:p>
          <a:endParaRPr lang="en-US"/>
        </a:p>
      </dgm:t>
    </dgm:pt>
    <dgm:pt modelId="{016DC79D-3BC0-41E5-8BCD-63EBA4F14C0D}">
      <dgm:prSet phldrT="[Text]" phldr="0"/>
      <dgm:spPr>
        <a:solidFill>
          <a:srgbClr val="C00000"/>
        </a:solidFill>
      </dgm:spPr>
      <dgm:t>
        <a:bodyPr/>
        <a:lstStyle/>
        <a:p>
          <a:r>
            <a:rPr lang="en-US" b="1" dirty="0"/>
            <a:t>Teams</a:t>
          </a:r>
        </a:p>
      </dgm:t>
    </dgm:pt>
    <dgm:pt modelId="{2EE0B6F5-6A8E-418F-9567-1907B2738A34}" type="parTrans" cxnId="{BC96F6EE-A452-4FD1-957C-3C61D63DF19A}">
      <dgm:prSet/>
      <dgm:spPr/>
      <dgm:t>
        <a:bodyPr/>
        <a:lstStyle/>
        <a:p>
          <a:endParaRPr lang="en-US"/>
        </a:p>
      </dgm:t>
    </dgm:pt>
    <dgm:pt modelId="{E09FC7D4-5B56-4C5F-893B-848769202938}" type="sibTrans" cxnId="{BC96F6EE-A452-4FD1-957C-3C61D63DF19A}">
      <dgm:prSet/>
      <dgm:spPr/>
      <dgm:t>
        <a:bodyPr/>
        <a:lstStyle/>
        <a:p>
          <a:endParaRPr lang="en-US"/>
        </a:p>
      </dgm:t>
    </dgm:pt>
    <dgm:pt modelId="{7A818774-F187-423D-B8A8-E299CC61C89C}">
      <dgm:prSet phldrT="[Text]" phldr="0"/>
      <dgm:spPr>
        <a:ln>
          <a:solidFill>
            <a:schemeClr val="bg1">
              <a:lumMod val="50000"/>
            </a:schemeClr>
          </a:solidFill>
        </a:ln>
      </dgm:spPr>
      <dgm:t>
        <a:bodyPr/>
        <a:lstStyle/>
        <a:p>
          <a:r>
            <a:rPr lang="en-US" dirty="0"/>
            <a:t>Practical corporate training</a:t>
          </a:r>
        </a:p>
      </dgm:t>
    </dgm:pt>
    <dgm:pt modelId="{C7A141B3-2B9C-4F4D-9D07-5F119890BE56}" type="parTrans" cxnId="{E39F6071-D189-4302-81C2-C8D5AD0A841D}">
      <dgm:prSet/>
      <dgm:spPr/>
      <dgm:t>
        <a:bodyPr/>
        <a:lstStyle/>
        <a:p>
          <a:endParaRPr lang="en-US"/>
        </a:p>
      </dgm:t>
    </dgm:pt>
    <dgm:pt modelId="{BF1D4A6B-4EBA-4D46-93B3-07C66BF920A8}" type="sibTrans" cxnId="{E39F6071-D189-4302-81C2-C8D5AD0A841D}">
      <dgm:prSet/>
      <dgm:spPr/>
      <dgm:t>
        <a:bodyPr/>
        <a:lstStyle/>
        <a:p>
          <a:endParaRPr lang="en-US"/>
        </a:p>
      </dgm:t>
    </dgm:pt>
    <dgm:pt modelId="{CED61807-9E1D-41DC-A0C2-C410C92668D0}">
      <dgm:prSet phldrT="[Text]" phldr="0"/>
      <dgm:spPr>
        <a:ln>
          <a:solidFill>
            <a:schemeClr val="bg1">
              <a:lumMod val="50000"/>
            </a:schemeClr>
          </a:solidFill>
        </a:ln>
      </dgm:spPr>
      <dgm:t>
        <a:bodyPr/>
        <a:lstStyle/>
        <a:p>
          <a:r>
            <a:rPr lang="en-US" dirty="0"/>
            <a:t>Apply modern Excel patterns to real workflows</a:t>
          </a:r>
        </a:p>
      </dgm:t>
    </dgm:pt>
    <dgm:pt modelId="{DF6760EA-CD03-4B40-8B21-BE7EBE5C8B51}" type="parTrans" cxnId="{D544EC0C-557D-4137-BBE5-D7047405AD61}">
      <dgm:prSet/>
      <dgm:spPr/>
      <dgm:t>
        <a:bodyPr/>
        <a:lstStyle/>
        <a:p>
          <a:endParaRPr lang="en-US"/>
        </a:p>
      </dgm:t>
    </dgm:pt>
    <dgm:pt modelId="{56F627CE-8FDB-492D-9146-C96F55B7E1C0}" type="sibTrans" cxnId="{D544EC0C-557D-4137-BBE5-D7047405AD61}">
      <dgm:prSet/>
      <dgm:spPr/>
      <dgm:t>
        <a:bodyPr/>
        <a:lstStyle/>
        <a:p>
          <a:endParaRPr lang="en-US"/>
        </a:p>
      </dgm:t>
    </dgm:pt>
    <dgm:pt modelId="{A47EFBC1-B8C2-4EA5-9B3A-F927674761C9}">
      <dgm:prSet phldrT="[Text]" phldr="0"/>
      <dgm:spPr>
        <a:ln>
          <a:solidFill>
            <a:schemeClr val="bg1">
              <a:lumMod val="50000"/>
            </a:schemeClr>
          </a:solidFill>
        </a:ln>
      </dgm:spPr>
      <dgm:t>
        <a:bodyPr/>
        <a:lstStyle/>
        <a:p>
          <a:r>
            <a:rPr lang="en-US" dirty="0"/>
            <a:t>Reduce errors, rework, and one-off fixes</a:t>
          </a:r>
        </a:p>
      </dgm:t>
    </dgm:pt>
    <dgm:pt modelId="{23C95D64-ACDF-4793-AF7E-ADB56BE2841D}" type="parTrans" cxnId="{1C3620EC-CE2A-437B-813B-D62505EEF778}">
      <dgm:prSet/>
      <dgm:spPr/>
      <dgm:t>
        <a:bodyPr/>
        <a:lstStyle/>
        <a:p>
          <a:endParaRPr lang="en-US"/>
        </a:p>
      </dgm:t>
    </dgm:pt>
    <dgm:pt modelId="{98F84862-E132-4EA1-89ED-AC172F965CF6}" type="sibTrans" cxnId="{1C3620EC-CE2A-437B-813B-D62505EEF778}">
      <dgm:prSet/>
      <dgm:spPr/>
      <dgm:t>
        <a:bodyPr/>
        <a:lstStyle/>
        <a:p>
          <a:endParaRPr lang="en-US"/>
        </a:p>
      </dgm:t>
    </dgm:pt>
    <dgm:pt modelId="{B4F0F40E-29C9-496D-BDA2-525B7864A476}">
      <dgm:prSet phldrT="[Text]" phldr="0"/>
      <dgm:spPr>
        <a:solidFill>
          <a:srgbClr val="C00000"/>
        </a:solidFill>
      </dgm:spPr>
      <dgm:t>
        <a:bodyPr/>
        <a:lstStyle/>
        <a:p>
          <a:r>
            <a:rPr lang="en-US" b="1" dirty="0"/>
            <a:t>Organizations</a:t>
          </a:r>
        </a:p>
      </dgm:t>
    </dgm:pt>
    <dgm:pt modelId="{85C43083-FDDC-4EB5-8CA2-AF1A2A539AE5}" type="parTrans" cxnId="{F5A0ED73-185C-43A4-B087-39723A0B16D0}">
      <dgm:prSet/>
      <dgm:spPr/>
      <dgm:t>
        <a:bodyPr/>
        <a:lstStyle/>
        <a:p>
          <a:endParaRPr lang="en-US"/>
        </a:p>
      </dgm:t>
    </dgm:pt>
    <dgm:pt modelId="{C9BD2B50-714A-4AF3-9879-8E0D2682421F}" type="sibTrans" cxnId="{F5A0ED73-185C-43A4-B087-39723A0B16D0}">
      <dgm:prSet/>
      <dgm:spPr/>
      <dgm:t>
        <a:bodyPr/>
        <a:lstStyle/>
        <a:p>
          <a:endParaRPr lang="en-US"/>
        </a:p>
      </dgm:t>
    </dgm:pt>
    <dgm:pt modelId="{CEF1FAE8-58A8-4837-8EE2-2DD9C2A199A3}">
      <dgm:prSet phldrT="[Text]" phldr="0"/>
      <dgm:spPr>
        <a:ln>
          <a:solidFill>
            <a:schemeClr val="bg1">
              <a:lumMod val="50000"/>
            </a:schemeClr>
          </a:solidFill>
        </a:ln>
      </dgm:spPr>
      <dgm:t>
        <a:bodyPr/>
        <a:lstStyle/>
        <a:p>
          <a:r>
            <a:rPr lang="en-US" dirty="0"/>
            <a:t>Guided, multi-week modernization program</a:t>
          </a:r>
        </a:p>
      </dgm:t>
    </dgm:pt>
    <dgm:pt modelId="{58151A2E-80AA-4AD6-A185-C0F5E8DA47AD}" type="parTrans" cxnId="{B62C6E92-AB91-468B-B358-EDF92131A7AF}">
      <dgm:prSet/>
      <dgm:spPr/>
      <dgm:t>
        <a:bodyPr/>
        <a:lstStyle/>
        <a:p>
          <a:endParaRPr lang="en-US"/>
        </a:p>
      </dgm:t>
    </dgm:pt>
    <dgm:pt modelId="{CBE4C6D7-AAFF-485C-A9FE-75A1ADEB00AD}" type="sibTrans" cxnId="{B62C6E92-AB91-468B-B358-EDF92131A7AF}">
      <dgm:prSet/>
      <dgm:spPr/>
      <dgm:t>
        <a:bodyPr/>
        <a:lstStyle/>
        <a:p>
          <a:endParaRPr lang="en-US"/>
        </a:p>
      </dgm:t>
    </dgm:pt>
    <dgm:pt modelId="{49A0E634-58A5-4059-9E7D-9503F5568F0E}">
      <dgm:prSet phldrT="[Text]" phldr="0"/>
      <dgm:spPr>
        <a:ln>
          <a:solidFill>
            <a:schemeClr val="bg1">
              <a:lumMod val="50000"/>
            </a:schemeClr>
          </a:solidFill>
        </a:ln>
      </dgm:spPr>
      <dgm:t>
        <a:bodyPr/>
        <a:lstStyle/>
        <a:p>
          <a:r>
            <a:rPr lang="en-US" dirty="0"/>
            <a:t>Teams learn to build pipelines, automation, and documentation</a:t>
          </a:r>
        </a:p>
      </dgm:t>
    </dgm:pt>
    <dgm:pt modelId="{ACD5A1DA-F5CD-48CE-B171-EC32505DF8B8}" type="parTrans" cxnId="{529891CA-70A8-4B23-B19B-BE2328CC8E28}">
      <dgm:prSet/>
      <dgm:spPr/>
      <dgm:t>
        <a:bodyPr/>
        <a:lstStyle/>
        <a:p>
          <a:endParaRPr lang="en-US"/>
        </a:p>
      </dgm:t>
    </dgm:pt>
    <dgm:pt modelId="{6ACADE56-6832-41F1-9403-24B505942BF3}" type="sibTrans" cxnId="{529891CA-70A8-4B23-B19B-BE2328CC8E28}">
      <dgm:prSet/>
      <dgm:spPr/>
      <dgm:t>
        <a:bodyPr/>
        <a:lstStyle/>
        <a:p>
          <a:endParaRPr lang="en-US"/>
        </a:p>
      </dgm:t>
    </dgm:pt>
    <dgm:pt modelId="{FB981EA0-3DDD-41E5-994C-58106823DD87}">
      <dgm:prSet phldrT="[Text]" phldr="0"/>
      <dgm:spPr>
        <a:ln>
          <a:solidFill>
            <a:schemeClr val="bg1">
              <a:lumMod val="50000"/>
            </a:schemeClr>
          </a:solidFill>
        </a:ln>
      </dgm:spPr>
      <dgm:t>
        <a:bodyPr/>
        <a:lstStyle/>
        <a:p>
          <a:r>
            <a:rPr lang="en-US" dirty="0"/>
            <a:t>Internal ownership of reliable, </a:t>
          </a:r>
          <a:r>
            <a:rPr lang="en-US"/>
            <a:t>auditable workflows</a:t>
          </a:r>
          <a:endParaRPr lang="en-US" dirty="0"/>
        </a:p>
      </dgm:t>
    </dgm:pt>
    <dgm:pt modelId="{F3950239-A916-4097-A7B6-DDA6653C9CB5}" type="parTrans" cxnId="{862989A2-6D7C-42A4-A92A-2FD429FB0840}">
      <dgm:prSet/>
      <dgm:spPr/>
      <dgm:t>
        <a:bodyPr/>
        <a:lstStyle/>
        <a:p>
          <a:endParaRPr lang="en-US"/>
        </a:p>
      </dgm:t>
    </dgm:pt>
    <dgm:pt modelId="{63E1678F-6B99-4762-B916-5E63C98E7666}" type="sibTrans" cxnId="{862989A2-6D7C-42A4-A92A-2FD429FB0840}">
      <dgm:prSet/>
      <dgm:spPr/>
      <dgm:t>
        <a:bodyPr/>
        <a:lstStyle/>
        <a:p>
          <a:endParaRPr lang="en-US"/>
        </a:p>
      </dgm:t>
    </dgm:pt>
    <dgm:pt modelId="{CAD0188A-56FC-4EB6-B5CE-816C1D97209B}" type="pres">
      <dgm:prSet presAssocID="{68798DD1-6FC4-4C34-9F3F-53BBEB998853}" presName="linearFlow" presStyleCnt="0">
        <dgm:presLayoutVars>
          <dgm:dir/>
          <dgm:animLvl val="lvl"/>
          <dgm:resizeHandles val="exact"/>
        </dgm:presLayoutVars>
      </dgm:prSet>
      <dgm:spPr/>
    </dgm:pt>
    <dgm:pt modelId="{396FF615-DBB1-4ADF-881C-2B53DB4685F9}" type="pres">
      <dgm:prSet presAssocID="{21FE27EC-10F4-47A1-8FD5-CD3496F54607}" presName="composite" presStyleCnt="0"/>
      <dgm:spPr/>
    </dgm:pt>
    <dgm:pt modelId="{09C26579-FE7E-4FCA-AD7A-C9F14DC9A41C}" type="pres">
      <dgm:prSet presAssocID="{21FE27EC-10F4-47A1-8FD5-CD3496F54607}" presName="parentText" presStyleLbl="alignNode1" presStyleIdx="0" presStyleCnt="3">
        <dgm:presLayoutVars>
          <dgm:chMax val="1"/>
          <dgm:bulletEnabled val="1"/>
        </dgm:presLayoutVars>
      </dgm:prSet>
      <dgm:spPr/>
    </dgm:pt>
    <dgm:pt modelId="{3F6A9F3A-70DD-47A1-BAF1-6047BA10BEF8}" type="pres">
      <dgm:prSet presAssocID="{21FE27EC-10F4-47A1-8FD5-CD3496F54607}" presName="descendantText" presStyleLbl="alignAcc1" presStyleIdx="0" presStyleCnt="3">
        <dgm:presLayoutVars>
          <dgm:bulletEnabled val="1"/>
        </dgm:presLayoutVars>
      </dgm:prSet>
      <dgm:spPr/>
    </dgm:pt>
    <dgm:pt modelId="{3EBAEAF0-87C5-4A8F-A60B-5164C3139ED0}" type="pres">
      <dgm:prSet presAssocID="{969895C4-5161-439F-BA5B-C7930ADA9517}" presName="sp" presStyleCnt="0"/>
      <dgm:spPr/>
    </dgm:pt>
    <dgm:pt modelId="{18A31272-9A53-4608-B75D-8841D31598E9}" type="pres">
      <dgm:prSet presAssocID="{016DC79D-3BC0-41E5-8BCD-63EBA4F14C0D}" presName="composite" presStyleCnt="0"/>
      <dgm:spPr/>
    </dgm:pt>
    <dgm:pt modelId="{94386F4B-5B07-46D9-B7E2-E761F0E5054B}" type="pres">
      <dgm:prSet presAssocID="{016DC79D-3BC0-41E5-8BCD-63EBA4F14C0D}" presName="parentText" presStyleLbl="alignNode1" presStyleIdx="1" presStyleCnt="3">
        <dgm:presLayoutVars>
          <dgm:chMax val="1"/>
          <dgm:bulletEnabled val="1"/>
        </dgm:presLayoutVars>
      </dgm:prSet>
      <dgm:spPr/>
    </dgm:pt>
    <dgm:pt modelId="{E1F63806-3F95-47B1-A8FC-936CE11E41B2}" type="pres">
      <dgm:prSet presAssocID="{016DC79D-3BC0-41E5-8BCD-63EBA4F14C0D}" presName="descendantText" presStyleLbl="alignAcc1" presStyleIdx="1" presStyleCnt="3">
        <dgm:presLayoutVars>
          <dgm:bulletEnabled val="1"/>
        </dgm:presLayoutVars>
      </dgm:prSet>
      <dgm:spPr/>
    </dgm:pt>
    <dgm:pt modelId="{08C09676-E15B-414E-ADE9-4CFD21277716}" type="pres">
      <dgm:prSet presAssocID="{E09FC7D4-5B56-4C5F-893B-848769202938}" presName="sp" presStyleCnt="0"/>
      <dgm:spPr/>
    </dgm:pt>
    <dgm:pt modelId="{C4801975-71F4-48D1-B902-ED5AA41607FE}" type="pres">
      <dgm:prSet presAssocID="{B4F0F40E-29C9-496D-BDA2-525B7864A476}" presName="composite" presStyleCnt="0"/>
      <dgm:spPr/>
    </dgm:pt>
    <dgm:pt modelId="{6686DA01-4710-4887-9ED3-F851DFA90AFC}" type="pres">
      <dgm:prSet presAssocID="{B4F0F40E-29C9-496D-BDA2-525B7864A476}" presName="parentText" presStyleLbl="alignNode1" presStyleIdx="2" presStyleCnt="3">
        <dgm:presLayoutVars>
          <dgm:chMax val="1"/>
          <dgm:bulletEnabled val="1"/>
        </dgm:presLayoutVars>
      </dgm:prSet>
      <dgm:spPr/>
    </dgm:pt>
    <dgm:pt modelId="{5B4E17BA-CB83-4086-AB9F-98D828E680FB}" type="pres">
      <dgm:prSet presAssocID="{B4F0F40E-29C9-496D-BDA2-525B7864A476}" presName="descendantText" presStyleLbl="alignAcc1" presStyleIdx="2" presStyleCnt="3">
        <dgm:presLayoutVars>
          <dgm:bulletEnabled val="1"/>
        </dgm:presLayoutVars>
      </dgm:prSet>
      <dgm:spPr/>
    </dgm:pt>
  </dgm:ptLst>
  <dgm:cxnLst>
    <dgm:cxn modelId="{92F1CA01-19A0-4F78-A4B8-D4B4230230A6}" type="presOf" srcId="{7A818774-F187-423D-B8A8-E299CC61C89C}" destId="{E1F63806-3F95-47B1-A8FC-936CE11E41B2}" srcOrd="0" destOrd="0" presId="urn:microsoft.com/office/officeart/2005/8/layout/chevron2"/>
    <dgm:cxn modelId="{2B9F7502-FA00-4776-91FC-DCE24DE2717C}" type="presOf" srcId="{31E0BBA0-32AB-44DE-85CB-3C80E6846810}" destId="{3F6A9F3A-70DD-47A1-BAF1-6047BA10BEF8}" srcOrd="0" destOrd="2" presId="urn:microsoft.com/office/officeart/2005/8/layout/chevron2"/>
    <dgm:cxn modelId="{6C6CBB06-B18A-42AC-8E9C-1FECB4298C8E}" srcId="{21FE27EC-10F4-47A1-8FD5-CD3496F54607}" destId="{C24B2941-8C4E-47E5-93BE-9390D2CDBC89}" srcOrd="0" destOrd="0" parTransId="{C97A6C3A-9B27-45E4-8D96-A0B3EE805D38}" sibTransId="{95B33339-D74D-43E7-BBDD-70E0EB607FD8}"/>
    <dgm:cxn modelId="{D544EC0C-557D-4137-BBE5-D7047405AD61}" srcId="{016DC79D-3BC0-41E5-8BCD-63EBA4F14C0D}" destId="{CED61807-9E1D-41DC-A0C2-C410C92668D0}" srcOrd="1" destOrd="0" parTransId="{DF6760EA-CD03-4B40-8B21-BE7EBE5C8B51}" sibTransId="{56F627CE-8FDB-492D-9146-C96F55B7E1C0}"/>
    <dgm:cxn modelId="{F861C337-2A07-4392-BB25-C7074FC35D3A}" type="presOf" srcId="{CED61807-9E1D-41DC-A0C2-C410C92668D0}" destId="{E1F63806-3F95-47B1-A8FC-936CE11E41B2}" srcOrd="0" destOrd="1" presId="urn:microsoft.com/office/officeart/2005/8/layout/chevron2"/>
    <dgm:cxn modelId="{08744D63-46D0-44D2-900A-8851AAD8CEA3}" srcId="{21FE27EC-10F4-47A1-8FD5-CD3496F54607}" destId="{B4C039DB-28DF-4F2E-9047-FCE10E8B50F4}" srcOrd="1" destOrd="0" parTransId="{88E2D7DD-A20A-4D82-B7BA-495E3CA5520E}" sibTransId="{EFC160FF-009E-419D-9011-2FCCED5BFCAE}"/>
    <dgm:cxn modelId="{7D3C6765-2503-464F-8915-4219C7FFA67E}" type="presOf" srcId="{B4C039DB-28DF-4F2E-9047-FCE10E8B50F4}" destId="{3F6A9F3A-70DD-47A1-BAF1-6047BA10BEF8}" srcOrd="0" destOrd="1" presId="urn:microsoft.com/office/officeart/2005/8/layout/chevron2"/>
    <dgm:cxn modelId="{C27A3E67-85B3-441D-954E-43FBB720893C}" type="presOf" srcId="{49A0E634-58A5-4059-9E7D-9503F5568F0E}" destId="{5B4E17BA-CB83-4086-AB9F-98D828E680FB}" srcOrd="0" destOrd="1" presId="urn:microsoft.com/office/officeart/2005/8/layout/chevron2"/>
    <dgm:cxn modelId="{72F5A847-4C7B-47C0-A9E1-518AC505C169}" type="presOf" srcId="{68798DD1-6FC4-4C34-9F3F-53BBEB998853}" destId="{CAD0188A-56FC-4EB6-B5CE-816C1D97209B}" srcOrd="0" destOrd="0" presId="urn:microsoft.com/office/officeart/2005/8/layout/chevron2"/>
    <dgm:cxn modelId="{061FAD70-44EC-4FA6-98DF-B43035022CDD}" type="presOf" srcId="{A47EFBC1-B8C2-4EA5-9B3A-F927674761C9}" destId="{E1F63806-3F95-47B1-A8FC-936CE11E41B2}" srcOrd="0" destOrd="2" presId="urn:microsoft.com/office/officeart/2005/8/layout/chevron2"/>
    <dgm:cxn modelId="{9453C970-A133-42A1-BB1A-7672CEFA0687}" srcId="{21FE27EC-10F4-47A1-8FD5-CD3496F54607}" destId="{31E0BBA0-32AB-44DE-85CB-3C80E6846810}" srcOrd="2" destOrd="0" parTransId="{BDE34EB0-9E1B-4FF4-9FC7-70742D76E4E6}" sibTransId="{45E94802-E21A-4AC8-ACCB-FA38B41DCB9F}"/>
    <dgm:cxn modelId="{E39F6071-D189-4302-81C2-C8D5AD0A841D}" srcId="{016DC79D-3BC0-41E5-8BCD-63EBA4F14C0D}" destId="{7A818774-F187-423D-B8A8-E299CC61C89C}" srcOrd="0" destOrd="0" parTransId="{C7A141B3-2B9C-4F4D-9D07-5F119890BE56}" sibTransId="{BF1D4A6B-4EBA-4D46-93B3-07C66BF920A8}"/>
    <dgm:cxn modelId="{F5A0ED73-185C-43A4-B087-39723A0B16D0}" srcId="{68798DD1-6FC4-4C34-9F3F-53BBEB998853}" destId="{B4F0F40E-29C9-496D-BDA2-525B7864A476}" srcOrd="2" destOrd="0" parTransId="{85C43083-FDDC-4EB5-8CA2-AF1A2A539AE5}" sibTransId="{C9BD2B50-714A-4AF3-9879-8E0D2682421F}"/>
    <dgm:cxn modelId="{19E0D479-A15D-4862-AFB6-01537DAB1029}" type="presOf" srcId="{016DC79D-3BC0-41E5-8BCD-63EBA4F14C0D}" destId="{94386F4B-5B07-46D9-B7E2-E761F0E5054B}" srcOrd="0" destOrd="0" presId="urn:microsoft.com/office/officeart/2005/8/layout/chevron2"/>
    <dgm:cxn modelId="{AD3BFA8E-5D82-48E4-B9AD-318B305BF8CB}" type="presOf" srcId="{FB981EA0-3DDD-41E5-994C-58106823DD87}" destId="{5B4E17BA-CB83-4086-AB9F-98D828E680FB}" srcOrd="0" destOrd="2" presId="urn:microsoft.com/office/officeart/2005/8/layout/chevron2"/>
    <dgm:cxn modelId="{B62C6E92-AB91-468B-B358-EDF92131A7AF}" srcId="{B4F0F40E-29C9-496D-BDA2-525B7864A476}" destId="{CEF1FAE8-58A8-4837-8EE2-2DD9C2A199A3}" srcOrd="0" destOrd="0" parTransId="{58151A2E-80AA-4AD6-A185-C0F5E8DA47AD}" sibTransId="{CBE4C6D7-AAFF-485C-A9FE-75A1ADEB00AD}"/>
    <dgm:cxn modelId="{8228239C-D034-41ED-AF1F-44B9D40545C6}" type="presOf" srcId="{B4F0F40E-29C9-496D-BDA2-525B7864A476}" destId="{6686DA01-4710-4887-9ED3-F851DFA90AFC}" srcOrd="0" destOrd="0" presId="urn:microsoft.com/office/officeart/2005/8/layout/chevron2"/>
    <dgm:cxn modelId="{B1127C9E-9D3C-4AAD-80DF-F94D479995DA}" type="presOf" srcId="{C24B2941-8C4E-47E5-93BE-9390D2CDBC89}" destId="{3F6A9F3A-70DD-47A1-BAF1-6047BA10BEF8}" srcOrd="0" destOrd="0" presId="urn:microsoft.com/office/officeart/2005/8/layout/chevron2"/>
    <dgm:cxn modelId="{4BA45AA0-961A-4D1B-A3F6-BB5A22DE0A36}" type="presOf" srcId="{21FE27EC-10F4-47A1-8FD5-CD3496F54607}" destId="{09C26579-FE7E-4FCA-AD7A-C9F14DC9A41C}" srcOrd="0" destOrd="0" presId="urn:microsoft.com/office/officeart/2005/8/layout/chevron2"/>
    <dgm:cxn modelId="{862989A2-6D7C-42A4-A92A-2FD429FB0840}" srcId="{B4F0F40E-29C9-496D-BDA2-525B7864A476}" destId="{FB981EA0-3DDD-41E5-994C-58106823DD87}" srcOrd="2" destOrd="0" parTransId="{F3950239-A916-4097-A7B6-DDA6653C9CB5}" sibTransId="{63E1678F-6B99-4762-B916-5E63C98E7666}"/>
    <dgm:cxn modelId="{277C8FA6-6B12-4298-833C-34A046A9226D}" type="presOf" srcId="{CEF1FAE8-58A8-4837-8EE2-2DD9C2A199A3}" destId="{5B4E17BA-CB83-4086-AB9F-98D828E680FB}" srcOrd="0" destOrd="0" presId="urn:microsoft.com/office/officeart/2005/8/layout/chevron2"/>
    <dgm:cxn modelId="{529891CA-70A8-4B23-B19B-BE2328CC8E28}" srcId="{B4F0F40E-29C9-496D-BDA2-525B7864A476}" destId="{49A0E634-58A5-4059-9E7D-9503F5568F0E}" srcOrd="1" destOrd="0" parTransId="{ACD5A1DA-F5CD-48CE-B171-EC32505DF8B8}" sibTransId="{6ACADE56-6832-41F1-9403-24B505942BF3}"/>
    <dgm:cxn modelId="{6C0172DF-D88B-41D4-B3F5-CA15E159222B}" srcId="{68798DD1-6FC4-4C34-9F3F-53BBEB998853}" destId="{21FE27EC-10F4-47A1-8FD5-CD3496F54607}" srcOrd="0" destOrd="0" parTransId="{FF3D7B0C-E2C4-49B8-8C4B-AF120BF1E2B9}" sibTransId="{969895C4-5161-439F-BA5B-C7930ADA9517}"/>
    <dgm:cxn modelId="{1C3620EC-CE2A-437B-813B-D62505EEF778}" srcId="{016DC79D-3BC0-41E5-8BCD-63EBA4F14C0D}" destId="{A47EFBC1-B8C2-4EA5-9B3A-F927674761C9}" srcOrd="2" destOrd="0" parTransId="{23C95D64-ACDF-4793-AF7E-ADB56BE2841D}" sibTransId="{98F84862-E132-4EA1-89ED-AC172F965CF6}"/>
    <dgm:cxn modelId="{BC96F6EE-A452-4FD1-957C-3C61D63DF19A}" srcId="{68798DD1-6FC4-4C34-9F3F-53BBEB998853}" destId="{016DC79D-3BC0-41E5-8BCD-63EBA4F14C0D}" srcOrd="1" destOrd="0" parTransId="{2EE0B6F5-6A8E-418F-9567-1907B2738A34}" sibTransId="{E09FC7D4-5B56-4C5F-893B-848769202938}"/>
    <dgm:cxn modelId="{8F7B8CF4-1AD3-437F-943B-15C6B8A43061}" type="presParOf" srcId="{CAD0188A-56FC-4EB6-B5CE-816C1D97209B}" destId="{396FF615-DBB1-4ADF-881C-2B53DB4685F9}" srcOrd="0" destOrd="0" presId="urn:microsoft.com/office/officeart/2005/8/layout/chevron2"/>
    <dgm:cxn modelId="{A905407B-1A3A-4C4F-94A3-72D810F50497}" type="presParOf" srcId="{396FF615-DBB1-4ADF-881C-2B53DB4685F9}" destId="{09C26579-FE7E-4FCA-AD7A-C9F14DC9A41C}" srcOrd="0" destOrd="0" presId="urn:microsoft.com/office/officeart/2005/8/layout/chevron2"/>
    <dgm:cxn modelId="{FD22B06B-837D-461D-90DF-5093D7EDBD71}" type="presParOf" srcId="{396FF615-DBB1-4ADF-881C-2B53DB4685F9}" destId="{3F6A9F3A-70DD-47A1-BAF1-6047BA10BEF8}" srcOrd="1" destOrd="0" presId="urn:microsoft.com/office/officeart/2005/8/layout/chevron2"/>
    <dgm:cxn modelId="{EA8A4336-7389-4C30-8110-DAB2C1C21C0D}" type="presParOf" srcId="{CAD0188A-56FC-4EB6-B5CE-816C1D97209B}" destId="{3EBAEAF0-87C5-4A8F-A60B-5164C3139ED0}" srcOrd="1" destOrd="0" presId="urn:microsoft.com/office/officeart/2005/8/layout/chevron2"/>
    <dgm:cxn modelId="{8C3399FB-03D1-42FB-9F72-2D7B16B0B99C}" type="presParOf" srcId="{CAD0188A-56FC-4EB6-B5CE-816C1D97209B}" destId="{18A31272-9A53-4608-B75D-8841D31598E9}" srcOrd="2" destOrd="0" presId="urn:microsoft.com/office/officeart/2005/8/layout/chevron2"/>
    <dgm:cxn modelId="{0638D5CA-D355-474F-B10D-C8495E5251C1}" type="presParOf" srcId="{18A31272-9A53-4608-B75D-8841D31598E9}" destId="{94386F4B-5B07-46D9-B7E2-E761F0E5054B}" srcOrd="0" destOrd="0" presId="urn:microsoft.com/office/officeart/2005/8/layout/chevron2"/>
    <dgm:cxn modelId="{E557CDAE-CAC8-4B57-A151-C05291D75607}" type="presParOf" srcId="{18A31272-9A53-4608-B75D-8841D31598E9}" destId="{E1F63806-3F95-47B1-A8FC-936CE11E41B2}" srcOrd="1" destOrd="0" presId="urn:microsoft.com/office/officeart/2005/8/layout/chevron2"/>
    <dgm:cxn modelId="{E126AC08-CC93-4BC4-8D81-C096DE23E2B9}" type="presParOf" srcId="{CAD0188A-56FC-4EB6-B5CE-816C1D97209B}" destId="{08C09676-E15B-414E-ADE9-4CFD21277716}" srcOrd="3" destOrd="0" presId="urn:microsoft.com/office/officeart/2005/8/layout/chevron2"/>
    <dgm:cxn modelId="{4B1D40FC-B1C2-453A-8607-302FF2BC833D}" type="presParOf" srcId="{CAD0188A-56FC-4EB6-B5CE-816C1D97209B}" destId="{C4801975-71F4-48D1-B902-ED5AA41607FE}" srcOrd="4" destOrd="0" presId="urn:microsoft.com/office/officeart/2005/8/layout/chevron2"/>
    <dgm:cxn modelId="{ACA736AB-5FFF-45DB-B3E4-E228D3373A70}" type="presParOf" srcId="{C4801975-71F4-48D1-B902-ED5AA41607FE}" destId="{6686DA01-4710-4887-9ED3-F851DFA90AFC}" srcOrd="0" destOrd="0" presId="urn:microsoft.com/office/officeart/2005/8/layout/chevron2"/>
    <dgm:cxn modelId="{62960D37-07F8-4C07-8FAC-939964988643}" type="presParOf" srcId="{C4801975-71F4-48D1-B902-ED5AA41607FE}" destId="{5B4E17BA-CB83-4086-AB9F-98D828E680FB}" srcOrd="1" destOrd="0" presId="urn:microsoft.com/office/officeart/2005/8/layout/chevron2"/>
  </dgm:cxnLst>
  <dgm:bg/>
  <dgm:whole>
    <a:ln>
      <a:solidFill>
        <a:schemeClr val="bg1">
          <a:lumMod val="50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E082B-C5F8-4195-ADEE-E56F18CBAED7}">
      <dsp:nvSpPr>
        <dsp:cNvPr id="0" name=""/>
        <dsp:cNvSpPr/>
      </dsp:nvSpPr>
      <dsp:spPr>
        <a:xfrm>
          <a:off x="3581400" y="0"/>
          <a:ext cx="8534400" cy="8534400"/>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D717D4-E5B6-4C42-A541-FBF628E1E9AE}">
      <dsp:nvSpPr>
        <dsp:cNvPr id="0" name=""/>
        <dsp:cNvSpPr/>
      </dsp:nvSpPr>
      <dsp:spPr>
        <a:xfrm>
          <a:off x="4136136" y="554736"/>
          <a:ext cx="3413760" cy="3413760"/>
        </a:xfrm>
        <a:prstGeom prst="roundRect">
          <a:avLst/>
        </a:prstGeom>
        <a:solidFill>
          <a:srgbClr val="CF333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dirty="0"/>
            <a:t>Repeatable reporting</a:t>
          </a:r>
        </a:p>
      </dsp:txBody>
      <dsp:txXfrm>
        <a:off x="4302782" y="721382"/>
        <a:ext cx="3080468" cy="3080468"/>
      </dsp:txXfrm>
    </dsp:sp>
    <dsp:sp modelId="{C170CAE2-B353-4B39-9F29-53896209F55E}">
      <dsp:nvSpPr>
        <dsp:cNvPr id="0" name=""/>
        <dsp:cNvSpPr/>
      </dsp:nvSpPr>
      <dsp:spPr>
        <a:xfrm>
          <a:off x="8147304" y="554736"/>
          <a:ext cx="3413760" cy="3413760"/>
        </a:xfrm>
        <a:prstGeom prst="roundRect">
          <a:avLst/>
        </a:prstGeom>
        <a:solidFill>
          <a:srgbClr val="CF333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Competing needs</a:t>
          </a:r>
        </a:p>
      </dsp:txBody>
      <dsp:txXfrm>
        <a:off x="8313950" y="721382"/>
        <a:ext cx="3080468" cy="3080468"/>
      </dsp:txXfrm>
    </dsp:sp>
    <dsp:sp modelId="{F1142FEF-1964-4950-95FA-888CA15C59AC}">
      <dsp:nvSpPr>
        <dsp:cNvPr id="0" name=""/>
        <dsp:cNvSpPr/>
      </dsp:nvSpPr>
      <dsp:spPr>
        <a:xfrm>
          <a:off x="4136136" y="4565904"/>
          <a:ext cx="3413760" cy="3413760"/>
        </a:xfrm>
        <a:prstGeom prst="roundRect">
          <a:avLst/>
        </a:prstGeom>
        <a:solidFill>
          <a:srgbClr val="CF333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Personal analysis &amp; quick checks</a:t>
          </a:r>
        </a:p>
      </dsp:txBody>
      <dsp:txXfrm>
        <a:off x="4302782" y="4732550"/>
        <a:ext cx="3080468" cy="3080468"/>
      </dsp:txXfrm>
    </dsp:sp>
    <dsp:sp modelId="{D1C06DA0-5B46-407A-B1E4-1C281173DF4F}">
      <dsp:nvSpPr>
        <dsp:cNvPr id="0" name=""/>
        <dsp:cNvSpPr/>
      </dsp:nvSpPr>
      <dsp:spPr>
        <a:xfrm>
          <a:off x="8147304" y="4565904"/>
          <a:ext cx="3413760" cy="3413760"/>
        </a:xfrm>
        <a:prstGeom prst="roundRect">
          <a:avLst/>
        </a:prstGeom>
        <a:solidFill>
          <a:srgbClr val="CF333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dirty="0"/>
            <a:t>Exploration, scenarios, and “What if”</a:t>
          </a:r>
        </a:p>
      </dsp:txBody>
      <dsp:txXfrm>
        <a:off x="8313950" y="4732550"/>
        <a:ext cx="3080468" cy="3080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26579-FE7E-4FCA-AD7A-C9F14DC9A41C}">
      <dsp:nvSpPr>
        <dsp:cNvPr id="0" name=""/>
        <dsp:cNvSpPr/>
      </dsp:nvSpPr>
      <dsp:spPr>
        <a:xfrm rot="5400000">
          <a:off x="-391385" y="391511"/>
          <a:ext cx="2609234" cy="1826464"/>
        </a:xfrm>
        <a:prstGeom prst="chevron">
          <a:avLst/>
        </a:prstGeom>
        <a:solidFill>
          <a:srgbClr val="C0000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Individuals</a:t>
          </a:r>
        </a:p>
      </dsp:txBody>
      <dsp:txXfrm rot="-5400000">
        <a:off x="0" y="913358"/>
        <a:ext cx="1826464" cy="782770"/>
      </dsp:txXfrm>
    </dsp:sp>
    <dsp:sp modelId="{3F6A9F3A-70DD-47A1-BAF1-6047BA10BEF8}">
      <dsp:nvSpPr>
        <dsp:cNvPr id="0" name=""/>
        <dsp:cNvSpPr/>
      </dsp:nvSpPr>
      <dsp:spPr>
        <a:xfrm rot="5400000">
          <a:off x="8104330" y="-6277740"/>
          <a:ext cx="1696002" cy="14251735"/>
        </a:xfrm>
        <a:prstGeom prst="round2SameRect">
          <a:avLst/>
        </a:prstGeom>
        <a:solidFill>
          <a:schemeClr val="lt1">
            <a:alpha val="90000"/>
            <a:hueOff val="0"/>
            <a:satOff val="0"/>
            <a:lumOff val="0"/>
            <a:alphaOff val="0"/>
          </a:schemeClr>
        </a:solidFill>
        <a:ln w="2540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Self-paced courses &amp; live workshops</a:t>
          </a:r>
        </a:p>
        <a:p>
          <a:pPr marL="285750" lvl="1" indent="-285750" algn="l" defTabSz="1422400">
            <a:lnSpc>
              <a:spcPct val="90000"/>
            </a:lnSpc>
            <a:spcBef>
              <a:spcPct val="0"/>
            </a:spcBef>
            <a:spcAft>
              <a:spcPct val="15000"/>
            </a:spcAft>
            <a:buChar char="•"/>
          </a:pPr>
          <a:r>
            <a:rPr lang="en-US" sz="3200" kern="1200" dirty="0"/>
            <a:t>Learn when to use formulas, Power Query, Python, and Copilot</a:t>
          </a:r>
        </a:p>
        <a:p>
          <a:pPr marL="285750" lvl="1" indent="-285750" algn="l" defTabSz="1422400">
            <a:lnSpc>
              <a:spcPct val="90000"/>
            </a:lnSpc>
            <a:spcBef>
              <a:spcPct val="0"/>
            </a:spcBef>
            <a:spcAft>
              <a:spcPct val="15000"/>
            </a:spcAft>
            <a:buChar char="•"/>
          </a:pPr>
          <a:r>
            <a:rPr lang="en-US" sz="3200" kern="1200" dirty="0"/>
            <a:t>Focus on clarity, maintainability, and confidence</a:t>
          </a:r>
        </a:p>
      </dsp:txBody>
      <dsp:txXfrm rot="-5400000">
        <a:off x="1826464" y="82918"/>
        <a:ext cx="14168943" cy="1530418"/>
      </dsp:txXfrm>
    </dsp:sp>
    <dsp:sp modelId="{94386F4B-5B07-46D9-B7E2-E761F0E5054B}">
      <dsp:nvSpPr>
        <dsp:cNvPr id="0" name=""/>
        <dsp:cNvSpPr/>
      </dsp:nvSpPr>
      <dsp:spPr>
        <a:xfrm rot="5400000">
          <a:off x="-391385" y="2813205"/>
          <a:ext cx="2609234" cy="1826464"/>
        </a:xfrm>
        <a:prstGeom prst="chevron">
          <a:avLst/>
        </a:prstGeom>
        <a:solidFill>
          <a:srgbClr val="C0000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Teams</a:t>
          </a:r>
        </a:p>
      </dsp:txBody>
      <dsp:txXfrm rot="-5400000">
        <a:off x="0" y="3335052"/>
        <a:ext cx="1826464" cy="782770"/>
      </dsp:txXfrm>
    </dsp:sp>
    <dsp:sp modelId="{E1F63806-3F95-47B1-A8FC-936CE11E41B2}">
      <dsp:nvSpPr>
        <dsp:cNvPr id="0" name=""/>
        <dsp:cNvSpPr/>
      </dsp:nvSpPr>
      <dsp:spPr>
        <a:xfrm rot="5400000">
          <a:off x="8104330" y="-3856045"/>
          <a:ext cx="1696002" cy="14251735"/>
        </a:xfrm>
        <a:prstGeom prst="round2SameRect">
          <a:avLst/>
        </a:prstGeom>
        <a:solidFill>
          <a:schemeClr val="lt1">
            <a:alpha val="90000"/>
            <a:hueOff val="0"/>
            <a:satOff val="0"/>
            <a:lumOff val="0"/>
            <a:alphaOff val="0"/>
          </a:schemeClr>
        </a:solidFill>
        <a:ln w="2540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Practical corporate training</a:t>
          </a:r>
        </a:p>
        <a:p>
          <a:pPr marL="285750" lvl="1" indent="-285750" algn="l" defTabSz="1422400">
            <a:lnSpc>
              <a:spcPct val="90000"/>
            </a:lnSpc>
            <a:spcBef>
              <a:spcPct val="0"/>
            </a:spcBef>
            <a:spcAft>
              <a:spcPct val="15000"/>
            </a:spcAft>
            <a:buChar char="•"/>
          </a:pPr>
          <a:r>
            <a:rPr lang="en-US" sz="3200" kern="1200" dirty="0"/>
            <a:t>Apply modern Excel patterns to real workflows</a:t>
          </a:r>
        </a:p>
        <a:p>
          <a:pPr marL="285750" lvl="1" indent="-285750" algn="l" defTabSz="1422400">
            <a:lnSpc>
              <a:spcPct val="90000"/>
            </a:lnSpc>
            <a:spcBef>
              <a:spcPct val="0"/>
            </a:spcBef>
            <a:spcAft>
              <a:spcPct val="15000"/>
            </a:spcAft>
            <a:buChar char="•"/>
          </a:pPr>
          <a:r>
            <a:rPr lang="en-US" sz="3200" kern="1200" dirty="0"/>
            <a:t>Reduce errors, rework, and one-off fixes</a:t>
          </a:r>
        </a:p>
      </dsp:txBody>
      <dsp:txXfrm rot="-5400000">
        <a:off x="1826464" y="2504613"/>
        <a:ext cx="14168943" cy="1530418"/>
      </dsp:txXfrm>
    </dsp:sp>
    <dsp:sp modelId="{6686DA01-4710-4887-9ED3-F851DFA90AFC}">
      <dsp:nvSpPr>
        <dsp:cNvPr id="0" name=""/>
        <dsp:cNvSpPr/>
      </dsp:nvSpPr>
      <dsp:spPr>
        <a:xfrm rot="5400000">
          <a:off x="-391385" y="5234900"/>
          <a:ext cx="2609234" cy="1826464"/>
        </a:xfrm>
        <a:prstGeom prst="chevron">
          <a:avLst/>
        </a:prstGeom>
        <a:solidFill>
          <a:srgbClr val="C0000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Organizations</a:t>
          </a:r>
        </a:p>
      </dsp:txBody>
      <dsp:txXfrm rot="-5400000">
        <a:off x="0" y="5756747"/>
        <a:ext cx="1826464" cy="782770"/>
      </dsp:txXfrm>
    </dsp:sp>
    <dsp:sp modelId="{5B4E17BA-CB83-4086-AB9F-98D828E680FB}">
      <dsp:nvSpPr>
        <dsp:cNvPr id="0" name=""/>
        <dsp:cNvSpPr/>
      </dsp:nvSpPr>
      <dsp:spPr>
        <a:xfrm rot="5400000">
          <a:off x="8104330" y="-1434351"/>
          <a:ext cx="1696002" cy="14251735"/>
        </a:xfrm>
        <a:prstGeom prst="round2SameRect">
          <a:avLst/>
        </a:prstGeom>
        <a:solidFill>
          <a:schemeClr val="lt1">
            <a:alpha val="90000"/>
            <a:hueOff val="0"/>
            <a:satOff val="0"/>
            <a:lumOff val="0"/>
            <a:alphaOff val="0"/>
          </a:schemeClr>
        </a:solidFill>
        <a:ln w="2540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Guided, multi-week modernization program</a:t>
          </a:r>
        </a:p>
        <a:p>
          <a:pPr marL="285750" lvl="1" indent="-285750" algn="l" defTabSz="1422400">
            <a:lnSpc>
              <a:spcPct val="90000"/>
            </a:lnSpc>
            <a:spcBef>
              <a:spcPct val="0"/>
            </a:spcBef>
            <a:spcAft>
              <a:spcPct val="15000"/>
            </a:spcAft>
            <a:buChar char="•"/>
          </a:pPr>
          <a:r>
            <a:rPr lang="en-US" sz="3200" kern="1200" dirty="0"/>
            <a:t>Teams learn to build pipelines, automation, and documentation</a:t>
          </a:r>
        </a:p>
        <a:p>
          <a:pPr marL="285750" lvl="1" indent="-285750" algn="l" defTabSz="1422400">
            <a:lnSpc>
              <a:spcPct val="90000"/>
            </a:lnSpc>
            <a:spcBef>
              <a:spcPct val="0"/>
            </a:spcBef>
            <a:spcAft>
              <a:spcPct val="15000"/>
            </a:spcAft>
            <a:buChar char="•"/>
          </a:pPr>
          <a:r>
            <a:rPr lang="en-US" sz="3200" kern="1200" dirty="0"/>
            <a:t>Internal ownership of reliable, </a:t>
          </a:r>
          <a:r>
            <a:rPr lang="en-US" sz="3200" kern="1200"/>
            <a:t>auditable workflows</a:t>
          </a:r>
          <a:endParaRPr lang="en-US" sz="3200" kern="1200" dirty="0"/>
        </a:p>
      </dsp:txBody>
      <dsp:txXfrm rot="-5400000">
        <a:off x="1826464" y="4926307"/>
        <a:ext cx="14168943" cy="1530418"/>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joining. Before we get started, I want to set expectations clearly.</a:t>
            </a:r>
          </a:p>
          <a:p>
            <a:r>
              <a:rPr lang="en-US" dirty="0"/>
              <a:t>This is not an Excel training session. There are no formulas, demos, or walkthroughs today.</a:t>
            </a:r>
          </a:p>
          <a:p>
            <a:r>
              <a:rPr lang="en-US" dirty="0"/>
              <a:t>This is a short, decision-level conversation about how Excel actually functions inside organizations — and what gets missed when it’s treated as a basic skill instead of a platform."</a:t>
            </a:r>
          </a:p>
          <a:p>
            <a:r>
              <a:rPr lang="en-US" dirty="0"/>
              <a:t>Pause.</a:t>
            </a:r>
          </a:p>
          <a:p>
            <a:r>
              <a:rPr lang="en-US" dirty="0"/>
              <a:t>"If you’re responsible for approving tools, training, or workflows, this session is for you."</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1</a:t>
            </a:fld>
            <a:endParaRPr lang="en-US"/>
          </a:p>
        </p:txBody>
      </p:sp>
    </p:spTree>
    <p:extLst>
      <p:ext uri="{BB962C8B-B14F-4D97-AF65-F5344CB8AC3E}">
        <p14:creationId xmlns:p14="http://schemas.microsoft.com/office/powerpoint/2010/main" val="4095159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briefly, for context — this is the lens I’m coming from.”</a:t>
            </a:r>
          </a:p>
          <a:p>
            <a:endParaRPr lang="en-US" dirty="0"/>
          </a:p>
          <a:p>
            <a:r>
              <a:rPr lang="en-US" dirty="0"/>
              <a:t>“I spend most of my time seeing how Excel is </a:t>
            </a:r>
            <a:r>
              <a:rPr lang="en-US" i="1" dirty="0"/>
              <a:t>actually</a:t>
            </a:r>
            <a:r>
              <a:rPr lang="en-US" dirty="0"/>
              <a:t> used — not how people say it’s used.”</a:t>
            </a:r>
          </a:p>
          <a:p>
            <a:endParaRPr lang="en-US" dirty="0"/>
          </a:p>
          <a:p>
            <a:r>
              <a:rPr lang="en-US" dirty="0"/>
              <a:t>“That means planning models, reconciliation files, exception handling, and last-mile analysis — not toy examples.”</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2</a:t>
            </a:fld>
            <a:endParaRPr lang="en-US"/>
          </a:p>
        </p:txBody>
      </p:sp>
    </p:spTree>
    <p:extLst>
      <p:ext uri="{BB962C8B-B14F-4D97-AF65-F5344CB8AC3E}">
        <p14:creationId xmlns:p14="http://schemas.microsoft.com/office/powerpoint/2010/main" val="3013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framing, not training.”</a:t>
            </a:r>
          </a:p>
          <a:p>
            <a:r>
              <a:rPr lang="en-US" dirty="0"/>
              <a:t>Pause.</a:t>
            </a:r>
          </a:p>
          <a:p>
            <a:endParaRPr lang="en-US" dirty="0"/>
          </a:p>
          <a:p>
            <a:r>
              <a:rPr lang="en-US" dirty="0"/>
              <a:t>“I’ll talk through real-world patterns I see constantly — especially around tooling and investment decisions.”</a:t>
            </a:r>
          </a:p>
          <a:p>
            <a:r>
              <a:rPr lang="en-US" dirty="0"/>
              <a:t>Pause.</a:t>
            </a:r>
          </a:p>
          <a:p>
            <a:endParaRPr lang="en-US" dirty="0"/>
          </a:p>
          <a:p>
            <a:r>
              <a:rPr lang="en-US" dirty="0"/>
              <a:t>“And I’ll give you a practical way to think about those decisions going forward.”</a:t>
            </a:r>
          </a:p>
          <a:p>
            <a:r>
              <a:rPr lang="en-US" dirty="0"/>
              <a:t>“We’ll leave time for questions at the end.”</a:t>
            </a:r>
          </a:p>
        </p:txBody>
      </p:sp>
      <p:sp>
        <p:nvSpPr>
          <p:cNvPr id="4" name="Slide Number Placeholder 3"/>
          <p:cNvSpPr>
            <a:spLocks noGrp="1"/>
          </p:cNvSpPr>
          <p:nvPr>
            <p:ph type="sldNum" sz="quarter" idx="5"/>
          </p:nvPr>
        </p:nvSpPr>
        <p:spPr/>
        <p:txBody>
          <a:bodyPr/>
          <a:lstStyle/>
          <a:p>
            <a:fld id="{FFB500C5-13F7-48FC-8160-C29AECF6C602}" type="slidenum">
              <a:rPr lang="en-US" smtClean="0"/>
              <a:t>3</a:t>
            </a:fld>
            <a:endParaRPr lang="en-US"/>
          </a:p>
        </p:txBody>
      </p:sp>
    </p:spTree>
    <p:extLst>
      <p:ext uri="{BB962C8B-B14F-4D97-AF65-F5344CB8AC3E}">
        <p14:creationId xmlns:p14="http://schemas.microsoft.com/office/powerpoint/2010/main" val="1757158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9846E-618D-BFBD-D332-67663A0B2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8F9DF-E9D1-CF0C-5AD2-26956D34A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A31A7-CD03-1063-FE6D-FF0B0977736D}"/>
              </a:ext>
            </a:extLst>
          </p:cNvPr>
          <p:cNvSpPr>
            <a:spLocks noGrp="1"/>
          </p:cNvSpPr>
          <p:nvPr>
            <p:ph type="body" idx="1"/>
          </p:nvPr>
        </p:nvSpPr>
        <p:spPr/>
        <p:txBody>
          <a:bodyPr/>
          <a:lstStyle/>
          <a:p>
            <a:r>
              <a:rPr lang="en-US" dirty="0"/>
              <a:t>I want to start with a pattern that shows up almost everywhere I work.</a:t>
            </a:r>
          </a:p>
          <a:p>
            <a:r>
              <a:rPr lang="en-US" dirty="0"/>
              <a:t>It doesn’t seem to matter whether the team is in finance, operations, analytics, or strategy. The pattern is remarkably consistent. When a new tool is introduced, it immediately feels strategic. There is energy around it. There’s a rollout plan. There’s a roadmap. There’s budget allocated. There’s formal training. There’s often executive sponsorship. Someone is clearly accountable for adoption.</a:t>
            </a:r>
          </a:p>
          <a:p>
            <a:r>
              <a:rPr lang="en-US" dirty="0"/>
              <a:t>The tool is treated like infrastructure. It gets governance. It gets documentation. It gets measurement. It gets attention.</a:t>
            </a:r>
          </a:p>
          <a:p>
            <a:r>
              <a:rPr lang="en-US" dirty="0"/>
              <a:t>Excel almost never gets that treatment.</a:t>
            </a:r>
          </a:p>
          <a:p>
            <a:r>
              <a:rPr lang="en-US" dirty="0"/>
              <a:t>Not because it isn’t powerful. And not because it isn’t widely used. In fact, the opposite is true. Excel is so widely used, and so familiar, that it doesn’t feel like something that requires intentional investment.</a:t>
            </a:r>
          </a:p>
          <a:p>
            <a:r>
              <a:rPr lang="en-US" dirty="0"/>
              <a:t>Everyone assumes people already know it. Everyone assumes it’s being used appropriately. Everyone assumes its limits are understood.</a:t>
            </a:r>
          </a:p>
          <a:p>
            <a:r>
              <a:rPr lang="en-US" dirty="0"/>
              <a:t>And familiarity creates confidence.</a:t>
            </a:r>
          </a:p>
          <a:p>
            <a:r>
              <a:rPr lang="en-US" dirty="0"/>
              <a:t>Sometimes that confidence is justified. Many people are genuinely capable. But sometimes the confidence is inherited rather than examined. It comes from exposure, not from structure.</a:t>
            </a:r>
          </a:p>
          <a:p>
            <a:r>
              <a:rPr lang="en-US" dirty="0"/>
              <a:t>That’s where the investment decisions start to shift. Instead of assessing Excel capability the way we would assess capability in a new platform, we assume it’s fine. We assume people are consistent. We assume logic is reusable. We assume risk is low.</a:t>
            </a:r>
          </a:p>
          <a:p>
            <a:r>
              <a:rPr lang="en-US" dirty="0"/>
              <a:t>So we fund new tools while leaving the tool that actually carries much of the analytical load under-managed.</a:t>
            </a:r>
          </a:p>
          <a:p>
            <a:r>
              <a:rPr lang="en-US" dirty="0"/>
              <a:t>And over time, that mismatch creates friction. Not because Excel is flawed, but because it’s treated as a basic skill rather than as a platform that needs ownership and intention.</a:t>
            </a:r>
          </a:p>
        </p:txBody>
      </p:sp>
      <p:sp>
        <p:nvSpPr>
          <p:cNvPr id="4" name="Slide Number Placeholder 3">
            <a:extLst>
              <a:ext uri="{FF2B5EF4-FFF2-40B4-BE49-F238E27FC236}">
                <a16:creationId xmlns:a16="http://schemas.microsoft.com/office/drawing/2014/main" id="{51502066-F94B-1C08-518A-7AC98CB51013}"/>
              </a:ext>
            </a:extLst>
          </p:cNvPr>
          <p:cNvSpPr>
            <a:spLocks noGrp="1"/>
          </p:cNvSpPr>
          <p:nvPr>
            <p:ph type="sldNum" sz="quarter" idx="5"/>
          </p:nvPr>
        </p:nvSpPr>
        <p:spPr/>
        <p:txBody>
          <a:bodyPr/>
          <a:lstStyle/>
          <a:p>
            <a:fld id="{FFB500C5-13F7-48FC-8160-C29AECF6C602}" type="slidenum">
              <a:rPr lang="en-US" smtClean="0"/>
              <a:t>4</a:t>
            </a:fld>
            <a:endParaRPr lang="en-US"/>
          </a:p>
        </p:txBody>
      </p:sp>
    </p:spTree>
    <p:extLst>
      <p:ext uri="{BB962C8B-B14F-4D97-AF65-F5344CB8AC3E}">
        <p14:creationId xmlns:p14="http://schemas.microsoft.com/office/powerpoint/2010/main" val="425650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D5C29-B7A9-729F-4EF6-609C450E8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82E59-CA72-4AC1-84F3-BBAB16A33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6DC194-B51C-1855-2374-DEAB2B8311D2}"/>
              </a:ext>
            </a:extLst>
          </p:cNvPr>
          <p:cNvSpPr>
            <a:spLocks noGrp="1"/>
          </p:cNvSpPr>
          <p:nvPr>
            <p:ph type="body" idx="1"/>
          </p:nvPr>
        </p:nvSpPr>
        <p:spPr/>
        <p:txBody>
          <a:bodyPr/>
          <a:lstStyle/>
          <a:p>
            <a:r>
              <a:rPr lang="en-US" dirty="0"/>
              <a:t>This combination is really the root of a lot of problems.</a:t>
            </a:r>
          </a:p>
          <a:p>
            <a:r>
              <a:rPr lang="en-US" dirty="0"/>
              <a:t>Excel is everywhere. It cuts across departments. It cuts across seniority levels. Analysts use it. Managers use it. Directors use it. Executives open files that ultimately came from Excel, even if they do not realize it. It is one of the few tools that truly sits at every layer of an organization.</a:t>
            </a:r>
          </a:p>
          <a:p>
            <a:r>
              <a:rPr lang="en-US" dirty="0"/>
              <a:t>And yet, despite how pervasive it is, almost no one owns it as a platform.</a:t>
            </a:r>
          </a:p>
          <a:p>
            <a:r>
              <a:rPr lang="en-US" dirty="0"/>
              <a:t>There is usually no clear steward. No one is responsible for how logic is structured across teams. No one is accountable for whether assumptions are documented consistently. No one is thinking about versioning, reuse, or architectural patterns in a deliberate way.</a:t>
            </a:r>
          </a:p>
          <a:p>
            <a:r>
              <a:rPr lang="en-US" dirty="0"/>
              <a:t>So instead of managing Excel intentionally, organizations default to an assumption. The assumption is that people already know it, and that they are using it appropriately.</a:t>
            </a:r>
          </a:p>
          <a:p>
            <a:r>
              <a:rPr lang="en-US" dirty="0"/>
              <a:t>That assumption fills the vacuum where ownership should be.</a:t>
            </a:r>
          </a:p>
          <a:p>
            <a:r>
              <a:rPr lang="en-US" dirty="0"/>
              <a:t>The problem is not that people are incapable. The problem is that capability is uneven, informal, and rarely assessed. Some teams are doing sophisticated, careful work. Others are building fragile files that carry real risk. But because Excel is familiar, that variation remains mostly invisible.</a:t>
            </a:r>
          </a:p>
          <a:p>
            <a:r>
              <a:rPr lang="en-US" dirty="0"/>
              <a:t>Now I want to make this personal for a moment.</a:t>
            </a:r>
          </a:p>
          <a:p>
            <a:r>
              <a:rPr lang="en-US" dirty="0"/>
              <a:t>How many of you rely on Excel for work that influences real decisions?</a:t>
            </a:r>
          </a:p>
          <a:p>
            <a:r>
              <a:rPr lang="en-US" dirty="0"/>
              <a:t>By real decisions, I mean budget allocations, headcount planning, pricing, forecasting, reconciliation, compliance, strategic direction. Work that affects money, risk, or people.</a:t>
            </a:r>
          </a:p>
          <a:p>
            <a:r>
              <a:rPr lang="en-US" dirty="0"/>
              <a:t>If that is you, just put a yes in the chat.</a:t>
            </a:r>
          </a:p>
          <a:p>
            <a:r>
              <a:rPr lang="en-US" dirty="0"/>
              <a:t>Give them space to respond.</a:t>
            </a:r>
          </a:p>
          <a:p>
            <a:r>
              <a:rPr lang="en-US" dirty="0"/>
              <a:t>Because if Excel is influencing real decisions, then whether it is treated casually or treated intentionally is not a small matter. It is a governance and capability question, not just a skills question.</a:t>
            </a:r>
          </a:p>
        </p:txBody>
      </p:sp>
      <p:sp>
        <p:nvSpPr>
          <p:cNvPr id="4" name="Slide Number Placeholder 3">
            <a:extLst>
              <a:ext uri="{FF2B5EF4-FFF2-40B4-BE49-F238E27FC236}">
                <a16:creationId xmlns:a16="http://schemas.microsoft.com/office/drawing/2014/main" id="{D6502255-EAA3-3757-8CA0-1EED2C06F9EF}"/>
              </a:ext>
            </a:extLst>
          </p:cNvPr>
          <p:cNvSpPr>
            <a:spLocks noGrp="1"/>
          </p:cNvSpPr>
          <p:nvPr>
            <p:ph type="sldNum" sz="quarter" idx="5"/>
          </p:nvPr>
        </p:nvSpPr>
        <p:spPr/>
        <p:txBody>
          <a:bodyPr/>
          <a:lstStyle/>
          <a:p>
            <a:fld id="{FFB500C5-13F7-48FC-8160-C29AECF6C602}" type="slidenum">
              <a:rPr lang="en-US" smtClean="0"/>
              <a:t>5</a:t>
            </a:fld>
            <a:endParaRPr lang="en-US"/>
          </a:p>
        </p:txBody>
      </p:sp>
    </p:spTree>
    <p:extLst>
      <p:ext uri="{BB962C8B-B14F-4D97-AF65-F5344CB8AC3E}">
        <p14:creationId xmlns:p14="http://schemas.microsoft.com/office/powerpoint/2010/main" val="3572076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5BDE7-6AA7-33A0-E898-64AFC3D1F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C9B6D-3C68-3E0D-22C7-EADCCADF4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E63E9C-476A-9F5E-10CB-A35F4494EA00}"/>
              </a:ext>
            </a:extLst>
          </p:cNvPr>
          <p:cNvSpPr>
            <a:spLocks noGrp="1"/>
          </p:cNvSpPr>
          <p:nvPr>
            <p:ph type="body" idx="1"/>
          </p:nvPr>
        </p:nvSpPr>
        <p:spPr/>
        <p:txBody>
          <a:bodyPr/>
          <a:lstStyle/>
          <a:p>
            <a:r>
              <a:rPr lang="en-US" dirty="0"/>
              <a:t>When Excel is under-invested in, the cost almost never shows up as a clean line item on a budget.</a:t>
            </a:r>
          </a:p>
          <a:p>
            <a:r>
              <a:rPr lang="en-US" dirty="0"/>
              <a:t>There is no invoice that says, “Spreadsheet fragility: $48,000.” There is no dashboard metric labeled “logic drift.” There is rarely a formal postmortem that traces friction back to spreadsheet architecture.</a:t>
            </a:r>
          </a:p>
          <a:p>
            <a:r>
              <a:rPr lang="en-US" dirty="0"/>
              <a:t>Instead, the cost leaks out quietly.</a:t>
            </a:r>
          </a:p>
          <a:p>
            <a:r>
              <a:rPr lang="en-US" dirty="0"/>
              <a:t>It shows up as rework. Someone rebuilding logic that already exists in another file because it is easier than finding and trusting the original.</a:t>
            </a:r>
          </a:p>
          <a:p>
            <a:r>
              <a:rPr lang="en-US" dirty="0"/>
              <a:t>It shows up as reconciliation loops. Two numbers that should match but do not, so time is spent tracing assumptions cell by cell.</a:t>
            </a:r>
          </a:p>
          <a:p>
            <a:r>
              <a:rPr lang="en-US" dirty="0"/>
              <a:t>It shows up as manual checks layered on top of formulas because trust is low, even if no one says that explicitly.</a:t>
            </a:r>
          </a:p>
          <a:p>
            <a:r>
              <a:rPr lang="en-US" dirty="0"/>
              <a:t>It shows up as shadow systems. A second file. A backup model. A parallel tracker built “just in case.”</a:t>
            </a:r>
          </a:p>
          <a:p>
            <a:r>
              <a:rPr lang="en-US" dirty="0"/>
              <a:t>And over time, it shows up as analyst fatigue.</a:t>
            </a:r>
          </a:p>
          <a:p>
            <a:r>
              <a:rPr lang="en-US" dirty="0"/>
              <a:t>Not dramatic burnout necessarily, but the steady cognitive load of working in an environment where logic is brittle and ownership is unclear. Where you are never entirely sure whether a result is wrong, or just poorly structured.</a:t>
            </a:r>
          </a:p>
          <a:p>
            <a:r>
              <a:rPr lang="en-US" dirty="0"/>
              <a:t>It is important to say this clearly: none of this happens because people are careless.</a:t>
            </a:r>
          </a:p>
          <a:p>
            <a:r>
              <a:rPr lang="en-US" dirty="0"/>
              <a:t>Most analysts I meet are thoughtful and conscientious. They are trying to do the right thing under time pressure. They are responding to shifting definitions and urgent requests.</a:t>
            </a:r>
          </a:p>
          <a:p>
            <a:r>
              <a:rPr lang="en-US" dirty="0"/>
              <a:t>The problem is structural, not personal.</a:t>
            </a:r>
          </a:p>
          <a:p>
            <a:r>
              <a:rPr lang="en-US" dirty="0"/>
              <a:t>Excel is often expected to behave like two different things at once. On the one hand, it is treated as a disposable tool. Something quick. Flexible. Informal. Easy to spin up and throw away.</a:t>
            </a:r>
          </a:p>
          <a:p>
            <a:r>
              <a:rPr lang="en-US" dirty="0"/>
              <a:t>On the other hand, it is also expected to function like a production system. Stable. Auditable. Reusable. Trusted across cycles.</a:t>
            </a:r>
          </a:p>
          <a:p>
            <a:r>
              <a:rPr lang="en-US" dirty="0"/>
              <a:t>Those two expectations are in tension.</a:t>
            </a:r>
          </a:p>
          <a:p>
            <a:r>
              <a:rPr lang="en-US" dirty="0"/>
              <a:t>When we do not acknowledge that tension, we end up blaming individuals for outcomes that are really the result of under-investment and unclear standards.</a:t>
            </a:r>
          </a:p>
          <a:p>
            <a:r>
              <a:rPr lang="en-US" dirty="0"/>
              <a:t>This is the part where the conversation shifts from “Excel skills” to capability design.</a:t>
            </a:r>
          </a:p>
          <a:p>
            <a:r>
              <a:rPr lang="en-US" dirty="0"/>
              <a:t>Let that sit.</a:t>
            </a:r>
          </a:p>
          <a:p>
            <a:r>
              <a:rPr lang="en-US" dirty="0"/>
              <a:t>Because once you see the cost in terms of friction and fatigue rather than software licenses, it becomes much harder to dismiss.</a:t>
            </a:r>
          </a:p>
        </p:txBody>
      </p:sp>
      <p:sp>
        <p:nvSpPr>
          <p:cNvPr id="4" name="Slide Number Placeholder 3">
            <a:extLst>
              <a:ext uri="{FF2B5EF4-FFF2-40B4-BE49-F238E27FC236}">
                <a16:creationId xmlns:a16="http://schemas.microsoft.com/office/drawing/2014/main" id="{7A198E77-A22B-1F4A-3CA8-A30D876C7D69}"/>
              </a:ext>
            </a:extLst>
          </p:cNvPr>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3089283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C3C02-9EDC-57EC-5115-BD273DE80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CB34-1A39-731F-5546-247C0DA3F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4FEB2-3DFE-3573-3CC6-5A4A93A26437}"/>
              </a:ext>
            </a:extLst>
          </p:cNvPr>
          <p:cNvSpPr>
            <a:spLocks noGrp="1"/>
          </p:cNvSpPr>
          <p:nvPr>
            <p:ph type="body" idx="1"/>
          </p:nvPr>
        </p:nvSpPr>
        <p:spPr/>
        <p:txBody>
          <a:bodyPr/>
          <a:lstStyle/>
          <a:p>
            <a:r>
              <a:rPr lang="en-US" dirty="0"/>
              <a:t>Even in very modern analytics environments, Excel has not gone away.</a:t>
            </a:r>
          </a:p>
          <a:p>
            <a:r>
              <a:rPr lang="en-US" dirty="0"/>
              <a:t>I work with teams that have BI platforms, data warehouses, cloud pipelines, forecasting tools, automation layers. The stack can look very sophisticated from the outside.</a:t>
            </a:r>
          </a:p>
          <a:p>
            <a:r>
              <a:rPr lang="en-US" dirty="0"/>
              <a:t>And yet, when you follow the flow of work all the way to the point where someone has to make a decision, Excel is usually still there.</a:t>
            </a:r>
          </a:p>
          <a:p>
            <a:r>
              <a:rPr lang="en-US" dirty="0"/>
              <a:t>It shows up in the exceptions. The cases that do not quite fit the dashboard logic. The edge scenarios that were not anticipated when the system was designed.</a:t>
            </a:r>
          </a:p>
          <a:p>
            <a:r>
              <a:rPr lang="en-US" dirty="0"/>
              <a:t>It shows up in scenarios. When someone asks, “What happens if we change this assumption?” or “What if demand shifts by ten percent?” or “What if hiring freezes next quarter?”</a:t>
            </a:r>
          </a:p>
          <a:p>
            <a:r>
              <a:rPr lang="en-US" dirty="0"/>
              <a:t>It shows up in assumptions. When definitions are still evolving, when metrics are being debated, when people are negotiating what the numbers actually mean.</a:t>
            </a:r>
          </a:p>
          <a:p>
            <a:r>
              <a:rPr lang="en-US" dirty="0"/>
              <a:t>And ultimately, it shows up in decisions. The last mile before something gets approved, rejected, funded, or delayed.</a:t>
            </a:r>
          </a:p>
          <a:p>
            <a:r>
              <a:rPr lang="en-US" dirty="0"/>
              <a:t>Dashboards are very good at showing what happened. They are excellent at summarizing history. They create clarity around past performance.</a:t>
            </a:r>
          </a:p>
          <a:p>
            <a:r>
              <a:rPr lang="en-US" dirty="0"/>
              <a:t>But Excel is still where people ask “what if?”</a:t>
            </a:r>
          </a:p>
          <a:p>
            <a:r>
              <a:rPr lang="en-US" dirty="0"/>
              <a:t>What if revenue slips.</a:t>
            </a:r>
            <a:br>
              <a:rPr lang="en-US" dirty="0"/>
            </a:br>
            <a:r>
              <a:rPr lang="en-US" dirty="0"/>
              <a:t>What if cost assumptions are too optimistic.</a:t>
            </a:r>
            <a:br>
              <a:rPr lang="en-US" dirty="0"/>
            </a:br>
            <a:r>
              <a:rPr lang="en-US" dirty="0"/>
              <a:t>What if we restructure the model.</a:t>
            </a:r>
            <a:br>
              <a:rPr lang="en-US" dirty="0"/>
            </a:br>
            <a:r>
              <a:rPr lang="en-US" dirty="0"/>
              <a:t>What if we allocate differently.</a:t>
            </a:r>
          </a:p>
          <a:p>
            <a:r>
              <a:rPr lang="en-US" dirty="0"/>
              <a:t>That exploratory, iterative, assumption-driven thinking often happens in Excel because it is flexible. It allows people to manipulate structure, not just view outputs.</a:t>
            </a:r>
          </a:p>
          <a:p>
            <a:r>
              <a:rPr lang="en-US" dirty="0"/>
              <a:t>This is why Excel quietly carries more responsibility than it is often credited with.</a:t>
            </a:r>
          </a:p>
          <a:p>
            <a:r>
              <a:rPr lang="en-US" dirty="0"/>
              <a:t>So I want to ask you something.</a:t>
            </a:r>
          </a:p>
          <a:p>
            <a:r>
              <a:rPr lang="en-US" dirty="0"/>
              <a:t>Where does Excel quietly carry more responsibility in your organization than leadership acknowledges?</a:t>
            </a:r>
          </a:p>
          <a:p>
            <a:r>
              <a:rPr lang="en-US" dirty="0"/>
              <a:t>Is it in planning?</a:t>
            </a:r>
            <a:br>
              <a:rPr lang="en-US" dirty="0"/>
            </a:br>
            <a:r>
              <a:rPr lang="en-US" dirty="0"/>
              <a:t>In reconciliations?</a:t>
            </a:r>
            <a:br>
              <a:rPr lang="en-US" dirty="0"/>
            </a:br>
            <a:r>
              <a:rPr lang="en-US" dirty="0"/>
              <a:t>In forecasting?</a:t>
            </a:r>
            <a:br>
              <a:rPr lang="en-US" dirty="0"/>
            </a:br>
            <a:r>
              <a:rPr lang="en-US" dirty="0"/>
              <a:t>In risk modeling?</a:t>
            </a:r>
            <a:br>
              <a:rPr lang="en-US" dirty="0"/>
            </a:br>
            <a:r>
              <a:rPr lang="en-US" dirty="0"/>
              <a:t>In pricing?</a:t>
            </a:r>
          </a:p>
          <a:p>
            <a:r>
              <a:rPr lang="en-US" dirty="0"/>
              <a:t>Take a moment and think about that. Or drop a quick example in the chat.</a:t>
            </a:r>
          </a:p>
          <a:p>
            <a:r>
              <a:rPr lang="en-US" dirty="0"/>
              <a:t>Because if Excel is sitting at the point where exceptions, scenarios, assumptions, and decisions converge, then how we think about investing in it is not a technical question. It is a governance and capability question.</a:t>
            </a:r>
          </a:p>
          <a:p>
            <a:r>
              <a:rPr lang="en-US" dirty="0"/>
              <a:t>And that realization is where this conversation starts to shift.</a:t>
            </a:r>
          </a:p>
        </p:txBody>
      </p:sp>
      <p:sp>
        <p:nvSpPr>
          <p:cNvPr id="4" name="Slide Number Placeholder 3">
            <a:extLst>
              <a:ext uri="{FF2B5EF4-FFF2-40B4-BE49-F238E27FC236}">
                <a16:creationId xmlns:a16="http://schemas.microsoft.com/office/drawing/2014/main" id="{7D94C33E-607C-BE89-4FFC-7F9E7E70F81B}"/>
              </a:ext>
            </a:extLst>
          </p:cNvPr>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2602386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99C18-3BCE-A7B5-4302-D5D1181A8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D0DD1-E6BA-A6CC-6C36-BBB4D6AE9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DE126-3618-D522-F20A-358DCCB4B809}"/>
              </a:ext>
            </a:extLst>
          </p:cNvPr>
          <p:cNvSpPr>
            <a:spLocks noGrp="1"/>
          </p:cNvSpPr>
          <p:nvPr>
            <p:ph type="body" idx="1"/>
          </p:nvPr>
        </p:nvSpPr>
        <p:spPr/>
        <p:txBody>
          <a:bodyPr/>
          <a:lstStyle/>
          <a:p>
            <a:r>
              <a:rPr lang="en-US" dirty="0"/>
              <a:t>This 2×2 is really the core of how I think about where Excel fits inside organizations and where problems tend to show up.</a:t>
            </a:r>
          </a:p>
          <a:p>
            <a:r>
              <a:rPr lang="en-US" dirty="0"/>
              <a:t>It is not a comparison of tools. It is not Excel versus BI or Excel versus Python. It is not even really about technology.</a:t>
            </a:r>
          </a:p>
          <a:p>
            <a:r>
              <a:rPr lang="en-US" dirty="0"/>
              <a:t>It is about different types of work.</a:t>
            </a:r>
          </a:p>
          <a:p>
            <a:r>
              <a:rPr lang="en-US" dirty="0"/>
              <a:t>If we misunderstand the type of work being done, we end up blaming tools for problems that are actually structural.</a:t>
            </a:r>
          </a:p>
          <a:p>
            <a:r>
              <a:rPr lang="en-US" dirty="0"/>
              <a:t>Let me walk through the axes first before we look at the quadrants.</a:t>
            </a:r>
          </a:p>
          <a:p>
            <a:r>
              <a:rPr lang="en-US" dirty="0"/>
              <a:t>Along the horizontal axis is uncertainty of the work.</a:t>
            </a:r>
          </a:p>
          <a:p>
            <a:r>
              <a:rPr lang="en-US" dirty="0"/>
              <a:t>On the left side, the work has low uncertainty. We know the question. The definitions are stable. The process repeats on a regular cycle. The outputs are predictable. A monthly close report is a good example. A standard KPI dashboard is another.</a:t>
            </a:r>
          </a:p>
          <a:p>
            <a:r>
              <a:rPr lang="en-US" dirty="0"/>
              <a:t>On the right side, the work has high uncertainty. The question is still evolving. Assumptions are changing. The team is exploring options. People are iterating, refining, testing scenarios. The structure of the problem itself may not be settled.</a:t>
            </a:r>
          </a:p>
          <a:p>
            <a:r>
              <a:rPr lang="en-US" dirty="0"/>
              <a:t>Now look at the vertical axis, which is standardization.</a:t>
            </a:r>
          </a:p>
          <a:p>
            <a:r>
              <a:rPr lang="en-US" dirty="0"/>
              <a:t>At the bottom is low standardization. This is personal or small-team work. It is often judgment-heavy. It may not be designed for reuse. It might be exploratory or temporary. It does not need governance because it is not widely shared.</a:t>
            </a:r>
          </a:p>
          <a:p>
            <a:r>
              <a:rPr lang="en-US" dirty="0"/>
              <a:t>At the top is high standardization. The outputs are shared. Metrics must be consistent. Definitions must be stable across users. Repeatability matters. Visibility is higher, and so is risk.</a:t>
            </a:r>
          </a:p>
          <a:p>
            <a:r>
              <a:rPr lang="en-US" dirty="0"/>
              <a:t>Once you understand those two dimensions, the quadrants become clearer.</a:t>
            </a:r>
          </a:p>
          <a:p>
            <a:r>
              <a:rPr lang="en-US" dirty="0"/>
              <a:t>In the bottom-left quadrant, where uncertainty is low and standardization is low, you have personal analysis and quick checks. This is where a lot of thinking starts. Sanity checks. One-off calculations. Ad hoc validation. This is not dangerous territory. Excel is perfectly fine here. In fact, it is often ideal because it is fast and flexible. There is no reason to over-engineer this quadrant.</a:t>
            </a:r>
          </a:p>
          <a:p>
            <a:r>
              <a:rPr lang="en-US" dirty="0"/>
              <a:t>In the bottom-right quadrant, uncertainty is high but standardization is still low. This is exploration, scenarios, and “what if” work. This is where Excel is incredibly strong. Scenario modeling. Planning. Assumption testing. Exception handling. This is often where the most valuable thinking happens. It is not about producing a final answer. It is about exploring possibilities. This is the space where people argue about assumptions, not answers. And that is healthy. Excel supports that kind of iterative reasoning very well.</a:t>
            </a:r>
          </a:p>
          <a:p>
            <a:r>
              <a:rPr lang="en-US" dirty="0"/>
              <a:t>Now move to the top-left quadrant. Low uncertainty, but high standardization. This is repeatable reporting. Monthly reports. Shared KPIs. Executive dashboards. The question is stable. The output must be consistent. This is often where Excel ends up by default, even when the work has matured into something that might benefit from more structured tooling. That is not because Excel is inherently wrong. It is because the work has changed, but the process has not evolved with it.</a:t>
            </a:r>
          </a:p>
          <a:p>
            <a:r>
              <a:rPr lang="en-US" dirty="0"/>
              <a:t>The top-right quadrant is where teams really feel tension. High uncertainty and high standardization at the same time. Forecasts that keep changing but must remain consistent across stakeholders. Planning models used by many people with evolving assumptions. Definitions that shift under executive scrutiny. Teams want flexibility and control simultaneously. They want exploration and governance at the same time. That tension is not solved simply by adopting a different tool. It is a design problem, not a brand problem.</a:t>
            </a:r>
          </a:p>
          <a:p>
            <a:r>
              <a:rPr lang="en-US" dirty="0"/>
              <a:t>If I zoom out, the main takeaway is this: problems usually do not come from using Excel.</a:t>
            </a:r>
          </a:p>
          <a:p>
            <a:r>
              <a:rPr lang="en-US" dirty="0"/>
              <a:t>They come from asking Excel to live in the wrong quadrant, or trying to make one tool serve all four quadrants equally well.</a:t>
            </a:r>
          </a:p>
          <a:p>
            <a:r>
              <a:rPr lang="en-US" dirty="0"/>
              <a:t>When Excel is treated seriously and used intentionally, a lot of this friction disappears because the expectations become clearer. We stop blaming the tool and start clarifying the work.</a:t>
            </a:r>
          </a:p>
          <a:p>
            <a:r>
              <a:rPr lang="en-US" dirty="0"/>
              <a:t>This is also why Excel is not “basic.” It is powerful. But it is only powerful when we are honest about the kind of work we are asking it to do.</a:t>
            </a:r>
          </a:p>
          <a:p>
            <a:r>
              <a:rPr lang="en-US" dirty="0"/>
              <a:t>Let me ask you something to ground this.</a:t>
            </a:r>
          </a:p>
          <a:p>
            <a:r>
              <a:rPr lang="en-US" dirty="0"/>
              <a:t>Which quadrant do you think your team actually lives in most of the time?</a:t>
            </a:r>
          </a:p>
          <a:p>
            <a:r>
              <a:rPr lang="en-US" dirty="0"/>
              <a:t>And which quadrant do they think they live in?</a:t>
            </a:r>
          </a:p>
          <a:p>
            <a:r>
              <a:rPr lang="en-US" dirty="0"/>
              <a:t>Those are often not the same answer.</a:t>
            </a:r>
          </a:p>
          <a:p>
            <a:r>
              <a:rPr lang="en-US" dirty="0"/>
              <a:t>Take a moment to think about that, or share in the chat if you are willing.</a:t>
            </a:r>
          </a:p>
        </p:txBody>
      </p:sp>
      <p:sp>
        <p:nvSpPr>
          <p:cNvPr id="4" name="Slide Number Placeholder 3">
            <a:extLst>
              <a:ext uri="{FF2B5EF4-FFF2-40B4-BE49-F238E27FC236}">
                <a16:creationId xmlns:a16="http://schemas.microsoft.com/office/drawing/2014/main" id="{DEE8A72A-7526-781D-EE45-C3A978F46695}"/>
              </a:ext>
            </a:extLst>
          </p:cNvPr>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790663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6AC98-B810-9FFF-475D-BD38C2D7C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F676B-CF5E-F1B5-CF2B-7D72FDCD2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2EE51C-2273-B781-F0EF-9471C39383B3}"/>
              </a:ext>
            </a:extLst>
          </p:cNvPr>
          <p:cNvSpPr>
            <a:spLocks noGrp="1"/>
          </p:cNvSpPr>
          <p:nvPr>
            <p:ph type="body" idx="1"/>
          </p:nvPr>
        </p:nvSpPr>
        <p:spPr/>
        <p:txBody>
          <a:bodyPr/>
          <a:lstStyle/>
          <a:p>
            <a:r>
              <a:rPr lang="en-US" dirty="0"/>
              <a:t>When teams struggle, the instinct is often to add tools.</a:t>
            </a:r>
          </a:p>
          <a:p>
            <a:r>
              <a:rPr lang="en-US" dirty="0"/>
              <a:t>Something feels inefficient or fragile, and the natural response is to look outward. Maybe we need a more advanced analytics platform. Maybe we need automation. Maybe we need to move off spreadsheets entirely.</a:t>
            </a:r>
          </a:p>
          <a:p>
            <a:r>
              <a:rPr lang="en-US" dirty="0"/>
              <a:t>But very often, what is actually happening is not a tool failure. It is a capability gap around the tool we already rely on most.</a:t>
            </a:r>
          </a:p>
          <a:p>
            <a:r>
              <a:rPr lang="en-US" dirty="0"/>
              <a:t>This is where the idea of taking Excel seriously becomes concrete.</a:t>
            </a:r>
          </a:p>
          <a:p>
            <a:r>
              <a:rPr lang="en-US" dirty="0"/>
              <a:t>Because when Excel is not treated as a real platform, a few predictable things happen.</a:t>
            </a:r>
          </a:p>
          <a:p>
            <a:r>
              <a:rPr lang="en-US" dirty="0"/>
              <a:t>Logic is not reused intentionally. Instead of building durable structures, people copy and paste formulas across files. Slight variations creep in. Assumptions drift. What should be shared logic becomes fragmented logic.</a:t>
            </a:r>
          </a:p>
          <a:p>
            <a:r>
              <a:rPr lang="en-US" dirty="0"/>
              <a:t>Assumptions are not documented clearly. A number exists, but the reasoning behind it is buried in a cell reference or in someone’s head. That makes the model harder to trust and harder to evolve.</a:t>
            </a:r>
          </a:p>
          <a:p>
            <a:r>
              <a:rPr lang="en-US" dirty="0"/>
              <a:t>People are not supported with patterns. Each analyst builds according to personal habit rather than shared standards. Some structures are elegant and robust. Others are brittle. The variation itself becomes the risk.</a:t>
            </a:r>
          </a:p>
          <a:p>
            <a:r>
              <a:rPr lang="en-US" dirty="0"/>
              <a:t>And decisions do not flow cleanly. Outputs move from spreadsheet to spreadsheet, sometimes reworked manually, sometimes adjusted informally, because there is no clear design for how Excel fits into the broader system.</a:t>
            </a:r>
          </a:p>
          <a:p>
            <a:r>
              <a:rPr lang="en-US" dirty="0"/>
              <a:t>When that happens, it is tempting to say the problem is Excel.</a:t>
            </a:r>
          </a:p>
          <a:p>
            <a:r>
              <a:rPr lang="en-US" dirty="0"/>
              <a:t>But often the problem is that Excel is being asked to carry real responsibility without being managed as a real platform.</a:t>
            </a:r>
          </a:p>
          <a:p>
            <a:r>
              <a:rPr lang="en-US" dirty="0"/>
              <a:t>Tools do not solve that by themselves.</a:t>
            </a:r>
          </a:p>
          <a:p>
            <a:r>
              <a:rPr lang="en-US" dirty="0"/>
              <a:t>Capability does.</a:t>
            </a:r>
          </a:p>
          <a:p>
            <a:r>
              <a:rPr lang="en-US" dirty="0"/>
              <a:t>Ownership does.</a:t>
            </a:r>
          </a:p>
          <a:p>
            <a:r>
              <a:rPr lang="en-US" dirty="0"/>
              <a:t>Intentional design does.</a:t>
            </a:r>
          </a:p>
          <a:p>
            <a:r>
              <a:rPr lang="en-US" dirty="0"/>
              <a:t>Taking Excel seriously means asking questions like:</a:t>
            </a:r>
          </a:p>
          <a:p>
            <a:r>
              <a:rPr lang="en-US" dirty="0"/>
              <a:t>Where should logic live?</a:t>
            </a:r>
            <a:br>
              <a:rPr lang="en-US" dirty="0"/>
            </a:br>
            <a:r>
              <a:rPr lang="en-US" dirty="0"/>
              <a:t>How should assumptions be structured?</a:t>
            </a:r>
            <a:br>
              <a:rPr lang="en-US" dirty="0"/>
            </a:br>
            <a:r>
              <a:rPr lang="en-US" dirty="0"/>
              <a:t>What patterns do we expect analysts to follow?</a:t>
            </a:r>
            <a:br>
              <a:rPr lang="en-US" dirty="0"/>
            </a:br>
            <a:r>
              <a:rPr lang="en-US" dirty="0"/>
              <a:t>What work belongs in Excel, and what should mature into something else?</a:t>
            </a:r>
          </a:p>
          <a:p>
            <a:r>
              <a:rPr lang="en-US" dirty="0"/>
              <a:t>Without those conversations, friction accumulates quietly.</a:t>
            </a:r>
          </a:p>
          <a:p>
            <a:r>
              <a:rPr lang="en-US" dirty="0"/>
              <a:t>So let me ask you something practical.</a:t>
            </a:r>
          </a:p>
          <a:p>
            <a:r>
              <a:rPr lang="en-US" dirty="0"/>
              <a:t>How much time is spent rebuilding logic that already exists somewhere?</a:t>
            </a:r>
          </a:p>
          <a:p>
            <a:r>
              <a:rPr lang="en-US" dirty="0"/>
              <a:t>How often does someone say, “It’s faster if I just recreate it”?</a:t>
            </a:r>
          </a:p>
          <a:p>
            <a:r>
              <a:rPr lang="en-US" dirty="0"/>
              <a:t>That rebuilding time is the hidden tax of not taking Excel seriously. It is not dramatic. It is not visible on a balance sheet. But it compounds.</a:t>
            </a:r>
          </a:p>
          <a:p>
            <a:r>
              <a:rPr lang="en-US" dirty="0"/>
              <a:t>If we start there, instead of starting with new software, the entire investment conversation changes.</a:t>
            </a:r>
          </a:p>
        </p:txBody>
      </p:sp>
      <p:sp>
        <p:nvSpPr>
          <p:cNvPr id="4" name="Slide Number Placeholder 3">
            <a:extLst>
              <a:ext uri="{FF2B5EF4-FFF2-40B4-BE49-F238E27FC236}">
                <a16:creationId xmlns:a16="http://schemas.microsoft.com/office/drawing/2014/main" id="{3C45FA16-329E-8FFB-E58C-C0F8E6603140}"/>
              </a:ext>
            </a:extLst>
          </p:cNvPr>
          <p:cNvSpPr>
            <a:spLocks noGrp="1"/>
          </p:cNvSpPr>
          <p:nvPr>
            <p:ph type="sldNum" sz="quarter" idx="5"/>
          </p:nvPr>
        </p:nvSpPr>
        <p:spPr/>
        <p:txBody>
          <a:bodyPr/>
          <a:lstStyle/>
          <a:p>
            <a:fld id="{FFB500C5-13F7-48FC-8160-C29AECF6C602}" type="slidenum">
              <a:rPr lang="en-US" smtClean="0"/>
              <a:t>9</a:t>
            </a:fld>
            <a:endParaRPr lang="en-US"/>
          </a:p>
        </p:txBody>
      </p:sp>
    </p:spTree>
    <p:extLst>
      <p:ext uri="{BB962C8B-B14F-4D97-AF65-F5344CB8AC3E}">
        <p14:creationId xmlns:p14="http://schemas.microsoft.com/office/powerpoint/2010/main" val="1705560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0A392-15BA-88DD-2FBC-969A110DC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5CFEF-C9C7-3D3B-7BC3-F3E811177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867B2-436C-94A2-F520-B7158BEFB8A9}"/>
              </a:ext>
            </a:extLst>
          </p:cNvPr>
          <p:cNvSpPr>
            <a:spLocks noGrp="1"/>
          </p:cNvSpPr>
          <p:nvPr>
            <p:ph type="body" idx="1"/>
          </p:nvPr>
        </p:nvSpPr>
        <p:spPr/>
        <p:txBody>
          <a:bodyPr/>
          <a:lstStyle/>
          <a:p>
            <a:r>
              <a:rPr lang="en-US" dirty="0"/>
              <a:t>When Excel is treated as a real platform rather than as a disposable utility, a few things tend to change.</a:t>
            </a:r>
          </a:p>
          <a:p>
            <a:r>
              <a:rPr lang="en-US" dirty="0"/>
              <a:t>The first thing that changes is rebuilding behavior.</a:t>
            </a:r>
          </a:p>
          <a:p>
            <a:r>
              <a:rPr lang="en-US" dirty="0"/>
              <a:t>Teams stop recreating the same logic every cycle. Instead of copying formulas forward or rebuilding models from memory, they start thinking in terms of reusable structures. Logic has a home. Assumptions are centralized. Patterns are repeatable. That alone reduces an enormous amount of friction.</a:t>
            </a:r>
          </a:p>
          <a:p>
            <a:r>
              <a:rPr lang="en-US" dirty="0"/>
              <a:t>It is not about making everything rigid. It is about reducing unnecessary reinvention.</a:t>
            </a:r>
          </a:p>
          <a:p>
            <a:r>
              <a:rPr lang="en-US" dirty="0"/>
              <a:t>The second change is trust.</a:t>
            </a:r>
          </a:p>
          <a:p>
            <a:r>
              <a:rPr lang="en-US" dirty="0"/>
              <a:t>When structures are intentional and assumptions are visible, outputs feel more reliable. People spend less time second-guessing numbers and more time interpreting them. The energy shifts from validation to analysis.</a:t>
            </a:r>
          </a:p>
          <a:p>
            <a:r>
              <a:rPr lang="en-US" dirty="0"/>
              <a:t>Trust does not come from complexity. It comes from clarity.</a:t>
            </a:r>
          </a:p>
          <a:p>
            <a:r>
              <a:rPr lang="en-US" dirty="0"/>
              <a:t>The third change is the nature of disagreement.</a:t>
            </a:r>
          </a:p>
          <a:p>
            <a:r>
              <a:rPr lang="en-US" dirty="0"/>
              <a:t>In fragile environments, teams often end up arguing about formulas. Why is this cell different? Why did that number change? Is this pulling from the right sheet?</a:t>
            </a:r>
          </a:p>
          <a:p>
            <a:r>
              <a:rPr lang="en-US" dirty="0"/>
              <a:t>When Excel is treated seriously, those arguments diminish. The conversation moves to assumptions. Should we use this growth rate? Should this cost be fixed or variable? Should this scenario be included?</a:t>
            </a:r>
          </a:p>
          <a:p>
            <a:r>
              <a:rPr lang="en-US" dirty="0"/>
              <a:t>That is a healthier place for disagreement. It is strategic rather than mechanical.</a:t>
            </a:r>
          </a:p>
          <a:p>
            <a:r>
              <a:rPr lang="en-US" dirty="0"/>
              <a:t>And finally, something counterintuitive tends to happen.</a:t>
            </a:r>
          </a:p>
          <a:p>
            <a:r>
              <a:rPr lang="en-US" dirty="0"/>
              <a:t>Teams often end up using fewer tools.</a:t>
            </a:r>
          </a:p>
          <a:p>
            <a:r>
              <a:rPr lang="en-US" dirty="0"/>
              <a:t>Not because other tools are bad. But because Excel is no longer carrying hidden structural weaknesses that force workarounds. When the platform you already rely on is well-designed, you do not need to layer on additional software to compensate for fragility.</a:t>
            </a:r>
          </a:p>
          <a:p>
            <a:r>
              <a:rPr lang="en-US" dirty="0"/>
              <a:t>That does not mean Excel replaces everything. It means it occupies its space intentionally. Other tools are adopted for clear reasons, not as rescue attempts.</a:t>
            </a:r>
          </a:p>
          <a:p>
            <a:r>
              <a:rPr lang="en-US" dirty="0"/>
              <a:t>The overall shift is subtle but meaningful.</a:t>
            </a:r>
          </a:p>
          <a:p>
            <a:r>
              <a:rPr lang="en-US" dirty="0"/>
              <a:t>Work becomes calmer.</a:t>
            </a:r>
            <a:br>
              <a:rPr lang="en-US" dirty="0"/>
            </a:br>
            <a:r>
              <a:rPr lang="en-US" dirty="0"/>
              <a:t>Rework decreases.</a:t>
            </a:r>
            <a:br>
              <a:rPr lang="en-US" dirty="0"/>
            </a:br>
            <a:r>
              <a:rPr lang="en-US" dirty="0"/>
              <a:t>Confidence increases.</a:t>
            </a:r>
            <a:br>
              <a:rPr lang="en-US" dirty="0"/>
            </a:br>
            <a:r>
              <a:rPr lang="en-US" dirty="0"/>
              <a:t>Energy moves from maintenance to thinking.</a:t>
            </a:r>
          </a:p>
          <a:p>
            <a:r>
              <a:rPr lang="en-US" dirty="0"/>
              <a:t>That is what I mean by taking Excel seriously.</a:t>
            </a:r>
          </a:p>
          <a:p>
            <a:r>
              <a:rPr lang="en-US" dirty="0"/>
              <a:t>Not doing more. Not making it heavier. But designing it deliberately so that it can support the responsibility it already carries.</a:t>
            </a:r>
          </a:p>
        </p:txBody>
      </p:sp>
      <p:sp>
        <p:nvSpPr>
          <p:cNvPr id="4" name="Slide Number Placeholder 3">
            <a:extLst>
              <a:ext uri="{FF2B5EF4-FFF2-40B4-BE49-F238E27FC236}">
                <a16:creationId xmlns:a16="http://schemas.microsoft.com/office/drawing/2014/main" id="{3387E33A-90E3-E08D-1DFC-12533A79772A}"/>
              </a:ext>
            </a:extLst>
          </p:cNvPr>
          <p:cNvSpPr>
            <a:spLocks noGrp="1"/>
          </p:cNvSpPr>
          <p:nvPr>
            <p:ph type="sldNum" sz="quarter" idx="5"/>
          </p:nvPr>
        </p:nvSpPr>
        <p:spPr/>
        <p:txBody>
          <a:bodyPr/>
          <a:lstStyle/>
          <a:p>
            <a:fld id="{FFB500C5-13F7-48FC-8160-C29AECF6C602}" type="slidenum">
              <a:rPr lang="en-US" smtClean="0"/>
              <a:t>10</a:t>
            </a:fld>
            <a:endParaRPr lang="en-US"/>
          </a:p>
        </p:txBody>
      </p:sp>
    </p:spTree>
    <p:extLst>
      <p:ext uri="{BB962C8B-B14F-4D97-AF65-F5344CB8AC3E}">
        <p14:creationId xmlns:p14="http://schemas.microsoft.com/office/powerpoint/2010/main" val="2463284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6BFB2-05DD-D61F-3F84-D7BCD0D3D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02DE4-0E55-C947-25DB-D72E578EA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7D358-73A2-CA9E-D0DA-3F8A2BCF1537}"/>
              </a:ext>
            </a:extLst>
          </p:cNvPr>
          <p:cNvSpPr>
            <a:spLocks noGrp="1"/>
          </p:cNvSpPr>
          <p:nvPr>
            <p:ph type="body" idx="1"/>
          </p:nvPr>
        </p:nvSpPr>
        <p:spPr/>
        <p:txBody>
          <a:bodyPr/>
          <a:lstStyle/>
          <a:p>
            <a:r>
              <a:rPr lang="en-US" dirty="0"/>
              <a:t>I want to briefly explain how I work, because it connects directly to everything we have just discussed.</a:t>
            </a:r>
          </a:p>
          <a:p>
            <a:r>
              <a:rPr lang="en-US" dirty="0"/>
              <a:t>Most of the people I work with are not trying to “learn more Excel” in a superficial sense. They are trying to move from fragile spreadsheets to more confident, scalable analysis. They already rely on Excel. The question is how to make that reliance more intentional and less risky.</a:t>
            </a:r>
          </a:p>
          <a:p>
            <a:r>
              <a:rPr lang="en-US" dirty="0"/>
              <a:t>Sometimes that work takes the form of training. Helping individuals or teams understand patterns for structuring models, reusing logic, documenting assumptions, and knowing when to escalate work into something more standardized.</a:t>
            </a:r>
          </a:p>
          <a:p>
            <a:r>
              <a:rPr lang="en-US" dirty="0"/>
              <a:t>Sometimes it is advisory work. Stepping back with a team and asking harder questions about where Excel fits in their workflow, where it is carrying too much responsibility, and where it may not be carrying enough.</a:t>
            </a:r>
          </a:p>
          <a:p>
            <a:r>
              <a:rPr lang="en-US" dirty="0"/>
              <a:t>And sometimes it is surprisingly simple. It is helping teams decide what not to build. Not every request requires a new dashboard. Not every recurring task requires automation. Sometimes the most valuable intervention is clarifying the type of work and aligning the tool accordingly.</a:t>
            </a:r>
          </a:p>
          <a:p>
            <a:r>
              <a:rPr lang="en-US" dirty="0"/>
              <a:t>What connects all of that is the same theme from this session: taking Excel seriously as part of your analytics capability, not just as a convenience tool.</a:t>
            </a:r>
          </a:p>
          <a:p>
            <a:r>
              <a:rPr lang="en-US" dirty="0"/>
              <a:t>This session is not meant to push you toward a specific program. It is meant to give you a clearer lens for thinking about these decisions. If you leave with a sharper way to evaluate where Excel fits, where it struggles, and where investment makes sense, then it has done its job.</a:t>
            </a:r>
          </a:p>
        </p:txBody>
      </p:sp>
      <p:sp>
        <p:nvSpPr>
          <p:cNvPr id="4" name="Slide Number Placeholder 3">
            <a:extLst>
              <a:ext uri="{FF2B5EF4-FFF2-40B4-BE49-F238E27FC236}">
                <a16:creationId xmlns:a16="http://schemas.microsoft.com/office/drawing/2014/main" id="{0E10C7BB-22B2-20BC-BF70-B49D11B6FF1D}"/>
              </a:ext>
            </a:extLst>
          </p:cNvPr>
          <p:cNvSpPr>
            <a:spLocks noGrp="1"/>
          </p:cNvSpPr>
          <p:nvPr>
            <p:ph type="sldNum" sz="quarter" idx="5"/>
          </p:nvPr>
        </p:nvSpPr>
        <p:spPr/>
        <p:txBody>
          <a:bodyPr/>
          <a:lstStyle/>
          <a:p>
            <a:fld id="{FFB500C5-13F7-48FC-8160-C29AECF6C602}" type="slidenum">
              <a:rPr lang="en-US" smtClean="0"/>
              <a:t>11</a:t>
            </a:fld>
            <a:endParaRPr lang="en-US"/>
          </a:p>
        </p:txBody>
      </p:sp>
    </p:spTree>
    <p:extLst>
      <p:ext uri="{BB962C8B-B14F-4D97-AF65-F5344CB8AC3E}">
        <p14:creationId xmlns:p14="http://schemas.microsoft.com/office/powerpoint/2010/main" val="3906887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C76D6-15D0-A7D7-99DF-2B3ACB8140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6BFD8-E27E-E769-13DC-6BC820938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BA8FA-9D53-A0E8-D92B-ED6C1C7E80C8}"/>
              </a:ext>
            </a:extLst>
          </p:cNvPr>
          <p:cNvSpPr>
            <a:spLocks noGrp="1"/>
          </p:cNvSpPr>
          <p:nvPr>
            <p:ph type="body" idx="1"/>
          </p:nvPr>
        </p:nvSpPr>
        <p:spPr/>
        <p:txBody>
          <a:bodyPr/>
          <a:lstStyle/>
          <a:p>
            <a:r>
              <a:rPr lang="en-US" dirty="0"/>
              <a:t>I will leave you with one final thought.</a:t>
            </a:r>
          </a:p>
          <a:p>
            <a:r>
              <a:rPr lang="en-US" dirty="0"/>
              <a:t>For many organizations, the fastest and least expensive way to improve analytics capability is not buying something new. It is not another migration, another platform, or another layer of tooling. Those investments can absolutely make sense in the right context, but they are often not the first lever that should be pulled.</a:t>
            </a:r>
          </a:p>
          <a:p>
            <a:r>
              <a:rPr lang="en-US" dirty="0"/>
              <a:t>Very often, the more immediate opportunity is to change how seriously the organization treats the tool that is already deeply embedded in its workflows.</a:t>
            </a:r>
          </a:p>
          <a:p>
            <a:r>
              <a:rPr lang="en-US" dirty="0"/>
              <a:t>Excel is already there. It is already shaping planning conversations, reconciliation processes, forecasts, and executive decisions. It already carries more responsibility than it is usually credited with. The real question is not whether to use Excel. The real question is whether it is being managed intentionally.</a:t>
            </a:r>
          </a:p>
          <a:p>
            <a:r>
              <a:rPr lang="en-US" dirty="0"/>
              <a:t>Taking Excel seriously does not mean doing more work or adding bureaucracy. It means being deliberate about how it fits into the broader analytics ecosystem. It means being clear about what kind of work belongs in it, what should be standardized, what should remain exploratory, and how logic and assumptions are structured so that they can be trusted and reused.</a:t>
            </a:r>
          </a:p>
          <a:p>
            <a:r>
              <a:rPr lang="en-US" dirty="0"/>
              <a:t>When that shift happens, the impact is often disproportionate to the effort. Rework decreases. Trust improves. Conversations move away from debugging mechanics and toward evaluating assumptions and decisions. The organization becomes calmer around its analytical processes because the foundation is more stable.</a:t>
            </a:r>
          </a:p>
          <a:p>
            <a:r>
              <a:rPr lang="en-US" dirty="0"/>
              <a:t>None of this requires defending Excel as the ultimate solution. It requires acknowledging that it already plays a central role and deciding to design around that reality rather than ignoring it.</a:t>
            </a:r>
          </a:p>
          <a:p>
            <a:r>
              <a:rPr lang="en-US" dirty="0"/>
              <a:t>If this session has helped clarify that lens, then it has done what it was meant to do.</a:t>
            </a:r>
          </a:p>
          <a:p>
            <a:r>
              <a:rPr lang="en-US" dirty="0"/>
              <a:t>I’m very happy to continue the conversation and take any questions you may have.</a:t>
            </a:r>
          </a:p>
        </p:txBody>
      </p:sp>
      <p:sp>
        <p:nvSpPr>
          <p:cNvPr id="4" name="Slide Number Placeholder 3">
            <a:extLst>
              <a:ext uri="{FF2B5EF4-FFF2-40B4-BE49-F238E27FC236}">
                <a16:creationId xmlns:a16="http://schemas.microsoft.com/office/drawing/2014/main" id="{D9C989F4-55F5-8D6B-77E2-2A6081EC8D71}"/>
              </a:ext>
            </a:extLst>
          </p:cNvPr>
          <p:cNvSpPr>
            <a:spLocks noGrp="1"/>
          </p:cNvSpPr>
          <p:nvPr>
            <p:ph type="sldNum" sz="quarter" idx="5"/>
          </p:nvPr>
        </p:nvSpPr>
        <p:spPr/>
        <p:txBody>
          <a:bodyPr/>
          <a:lstStyle/>
          <a:p>
            <a:fld id="{FFB500C5-13F7-48FC-8160-C29AECF6C602}" type="slidenum">
              <a:rPr lang="en-US" smtClean="0"/>
              <a:t>12</a:t>
            </a:fld>
            <a:endParaRPr lang="en-US"/>
          </a:p>
        </p:txBody>
      </p:sp>
    </p:spTree>
    <p:extLst>
      <p:ext uri="{BB962C8B-B14F-4D97-AF65-F5344CB8AC3E}">
        <p14:creationId xmlns:p14="http://schemas.microsoft.com/office/powerpoint/2010/main" val="3282571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FF23F-FB16-003A-96C4-413CCC52C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314FF-2549-073F-8849-440685AD05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73ECF-4F6E-D108-3FCA-58F01DE5D50D}"/>
              </a:ext>
            </a:extLst>
          </p:cNvPr>
          <p:cNvSpPr>
            <a:spLocks noGrp="1"/>
          </p:cNvSpPr>
          <p:nvPr>
            <p:ph type="body" idx="1"/>
          </p:nvPr>
        </p:nvSpPr>
        <p:spPr/>
        <p:txBody>
          <a:bodyPr/>
          <a:lstStyle/>
          <a:p>
            <a:r>
              <a:rPr lang="en-US" dirty="0"/>
              <a:t>“A quick logistical note before we go to questions.</a:t>
            </a:r>
            <a:br>
              <a:rPr lang="en-US" dirty="0"/>
            </a:br>
            <a:r>
              <a:rPr lang="en-US" dirty="0"/>
              <a:t>I’ll share the slides and the recording with registered attendees after the session.</a:t>
            </a:r>
          </a:p>
        </p:txBody>
      </p:sp>
      <p:sp>
        <p:nvSpPr>
          <p:cNvPr id="4" name="Slide Number Placeholder 3">
            <a:extLst>
              <a:ext uri="{FF2B5EF4-FFF2-40B4-BE49-F238E27FC236}">
                <a16:creationId xmlns:a16="http://schemas.microsoft.com/office/drawing/2014/main" id="{DF7D681D-B970-807F-5E1D-E8BB5883DA54}"/>
              </a:ext>
            </a:extLst>
          </p:cNvPr>
          <p:cNvSpPr>
            <a:spLocks noGrp="1"/>
          </p:cNvSpPr>
          <p:nvPr>
            <p:ph type="sldNum" sz="quarter" idx="5"/>
          </p:nvPr>
        </p:nvSpPr>
        <p:spPr/>
        <p:txBody>
          <a:bodyPr/>
          <a:lstStyle/>
          <a:p>
            <a:fld id="{FFB500C5-13F7-48FC-8160-C29AECF6C602}" type="slidenum">
              <a:rPr lang="en-US" smtClean="0"/>
              <a:t>13</a:t>
            </a:fld>
            <a:endParaRPr lang="en-US"/>
          </a:p>
        </p:txBody>
      </p:sp>
    </p:spTree>
    <p:extLst>
      <p:ext uri="{BB962C8B-B14F-4D97-AF65-F5344CB8AC3E}">
        <p14:creationId xmlns:p14="http://schemas.microsoft.com/office/powerpoint/2010/main" val="2286308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to take questions.”</a:t>
            </a:r>
          </a:p>
          <a:p>
            <a:r>
              <a:rPr lang="en-US" dirty="0"/>
              <a:t>“I’m glad to talk about decision-making, tooling strategy, and capability.”</a:t>
            </a:r>
          </a:p>
          <a:p>
            <a:r>
              <a:rPr lang="en-US" dirty="0"/>
              <a:t>“I’m not going to troubleshoot spreadsheets today — but I’m happy to talk about how teams think about these tradeoffs.”</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14</a:t>
            </a:fld>
            <a:endParaRPr lang="en-US"/>
          </a:p>
        </p:txBody>
      </p:sp>
    </p:spTree>
    <p:extLst>
      <p:ext uri="{BB962C8B-B14F-4D97-AF65-F5344CB8AC3E}">
        <p14:creationId xmlns:p14="http://schemas.microsoft.com/office/powerpoint/2010/main" val="19143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pn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9.png"/><Relationship Id="rId7" Type="http://schemas.openxmlformats.org/officeDocument/2006/relationships/diagramColors" Target="../diagrams/colors2.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Treating Excel seriously:</a:t>
            </a:r>
          </a:p>
          <a:p>
            <a:r>
              <a:rPr lang="en-US" sz="5400" b="1" dirty="0">
                <a:solidFill>
                  <a:srgbClr val="CF3338"/>
                </a:solidFill>
                <a:latin typeface="Pragmatica" panose="020B0403040502020204" pitchFamily="34" charset="0"/>
              </a:rPr>
              <a:t>A better way to invest in analytics capability</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1446550"/>
          </a:xfrm>
          <a:prstGeom prst="rect">
            <a:avLst/>
          </a:prstGeom>
          <a:noFill/>
        </p:spPr>
        <p:txBody>
          <a:bodyPr wrap="square" rtlCol="0">
            <a:spAutoFit/>
          </a:bodyPr>
          <a:lstStyle/>
          <a:p>
            <a:r>
              <a:rPr lang="en-US" sz="4400" b="1" dirty="0">
                <a:solidFill>
                  <a:schemeClr val="bg1"/>
                </a:solidFill>
              </a:rPr>
              <a:t>I help Excel users move from fragile spreadsheets</a:t>
            </a:r>
          </a:p>
          <a:p>
            <a:r>
              <a:rPr lang="en-US" sz="4400" b="1" dirty="0">
                <a:solidFill>
                  <a:schemeClr val="bg1"/>
                </a:solidFill>
              </a:rPr>
              <a:t>to confident, scalable analysis.</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77075" y="195640"/>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Free photos of Cleveland">
            <a:extLst>
              <a:ext uri="{FF2B5EF4-FFF2-40B4-BE49-F238E27FC236}">
                <a16:creationId xmlns:a16="http://schemas.microsoft.com/office/drawing/2014/main" id="{CBA53EEE-E3E1-D99E-A4DC-1C4DD2E6CE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95692" y="2968810"/>
            <a:ext cx="5535359" cy="3684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10;&#10;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83691" y="6002696"/>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21136" y="2210054"/>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42" y="7832951"/>
            <a:ext cx="5057775" cy="2028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hais Cooke on LinkedIn: #linkedinlearninginstructor #linkedinlearning | 82  comments">
            <a:extLst>
              <a:ext uri="{FF2B5EF4-FFF2-40B4-BE49-F238E27FC236}">
                <a16:creationId xmlns:a16="http://schemas.microsoft.com/office/drawing/2014/main" id="{2E3C0D6C-F7C9-F3C4-3BAA-FF34E086E7E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0" y="5312978"/>
            <a:ext cx="333375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90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What to expect today</a:t>
            </a:r>
          </a:p>
        </p:txBody>
      </p:sp>
      <p:sp>
        <p:nvSpPr>
          <p:cNvPr id="3" name="TextBox 2"/>
          <p:cNvSpPr txBox="1"/>
          <p:nvPr/>
        </p:nvSpPr>
        <p:spPr>
          <a:xfrm>
            <a:off x="520861" y="3191948"/>
            <a:ext cx="14393120" cy="424731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Framing, not training</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Real-world patterns I see constantly</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 practical way to think about investment decisions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Time for questions</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47FB9-2BEA-EB09-5CC2-1B978891724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90454E3-EE25-C43C-C7CF-5A3D31F83C60}"/>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The pattern</a:t>
            </a:r>
          </a:p>
        </p:txBody>
      </p:sp>
      <p:sp>
        <p:nvSpPr>
          <p:cNvPr id="3" name="TextBox 2">
            <a:extLst>
              <a:ext uri="{FF2B5EF4-FFF2-40B4-BE49-F238E27FC236}">
                <a16:creationId xmlns:a16="http://schemas.microsoft.com/office/drawing/2014/main" id="{9F2C0497-325C-FDB1-6CB7-A7D1E6F726D1}"/>
              </a:ext>
            </a:extLst>
          </p:cNvPr>
          <p:cNvSpPr txBox="1"/>
          <p:nvPr/>
        </p:nvSpPr>
        <p:spPr>
          <a:xfrm>
            <a:off x="520860" y="3191948"/>
            <a:ext cx="17386139" cy="4524315"/>
          </a:xfrm>
          <a:prstGeom prst="rect">
            <a:avLst/>
          </a:prstGeom>
          <a:noFill/>
        </p:spPr>
        <p:txBody>
          <a:bodyPr wrap="square" numCol="2" rtlCol="0">
            <a:spAutoFit/>
          </a:bodyPr>
          <a:lstStyle/>
          <a:p>
            <a:pPr>
              <a:buClr>
                <a:srgbClr val="CF3338"/>
              </a:buClr>
            </a:pPr>
            <a:r>
              <a:rPr lang="en-US" sz="9600" dirty="0">
                <a:solidFill>
                  <a:srgbClr val="707070"/>
                </a:solidFill>
                <a:latin typeface="Pragmatica" panose="020B0403040502020204" pitchFamily="34" charset="0"/>
              </a:rPr>
              <a:t>New tools feel strategic</a:t>
            </a:r>
          </a:p>
          <a:p>
            <a:pPr>
              <a:buClr>
                <a:srgbClr val="CF3338"/>
              </a:buClr>
            </a:pPr>
            <a:endParaRPr lang="en-US" sz="9600" dirty="0">
              <a:solidFill>
                <a:srgbClr val="707070"/>
              </a:solidFill>
              <a:latin typeface="Pragmatica" panose="020B0403040502020204" pitchFamily="34" charset="0"/>
            </a:endParaRPr>
          </a:p>
          <a:p>
            <a:pPr>
              <a:buClr>
                <a:srgbClr val="CF3338"/>
              </a:buClr>
            </a:pPr>
            <a:r>
              <a:rPr lang="en-US" sz="9600" dirty="0">
                <a:solidFill>
                  <a:srgbClr val="707070"/>
                </a:solidFill>
                <a:latin typeface="Pragmatica" panose="020B0403040502020204" pitchFamily="34" charset="0"/>
              </a:rPr>
              <a:t>Familiar tools feel “basic”</a:t>
            </a:r>
          </a:p>
        </p:txBody>
      </p:sp>
      <p:pic>
        <p:nvPicPr>
          <p:cNvPr id="15" name="Picture 14" descr="A close up of a sign&#10;&#10;Description automatically generated">
            <a:extLst>
              <a:ext uri="{FF2B5EF4-FFF2-40B4-BE49-F238E27FC236}">
                <a16:creationId xmlns:a16="http://schemas.microsoft.com/office/drawing/2014/main" id="{295F997A-DF9D-648A-00FF-C25BFFEF82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190199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FC4A-B81C-688C-5347-38DB7164C3E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8FB5998-D249-F10F-70A3-2B61E12C012F}"/>
              </a:ext>
            </a:extLst>
          </p:cNvPr>
          <p:cNvSpPr txBox="1"/>
          <p:nvPr/>
        </p:nvSpPr>
        <p:spPr>
          <a:xfrm>
            <a:off x="520861" y="170082"/>
            <a:ext cx="15820175" cy="1477328"/>
          </a:xfrm>
          <a:prstGeom prst="rect">
            <a:avLst/>
          </a:prstGeom>
          <a:noFill/>
        </p:spPr>
        <p:txBody>
          <a:bodyPr wrap="square" rtlCol="0">
            <a:spAutoFit/>
          </a:bodyPr>
          <a:lstStyle/>
          <a:p>
            <a:r>
              <a:rPr lang="en-US" sz="9000" dirty="0">
                <a:latin typeface="Aliens &amp; cows" panose="00000500000000000000" pitchFamily="2" charset="0"/>
              </a:rPr>
              <a:t>Why Excel is treated differently</a:t>
            </a:r>
          </a:p>
        </p:txBody>
      </p:sp>
      <p:sp>
        <p:nvSpPr>
          <p:cNvPr id="3" name="TextBox 2">
            <a:extLst>
              <a:ext uri="{FF2B5EF4-FFF2-40B4-BE49-F238E27FC236}">
                <a16:creationId xmlns:a16="http://schemas.microsoft.com/office/drawing/2014/main" id="{9EFF3D5E-0BBF-4B1D-3EBE-7FE78A3D1FBB}"/>
              </a:ext>
            </a:extLst>
          </p:cNvPr>
          <p:cNvSpPr txBox="1"/>
          <p:nvPr/>
        </p:nvSpPr>
        <p:spPr>
          <a:xfrm>
            <a:off x="520860" y="3191948"/>
            <a:ext cx="17386139" cy="2585323"/>
          </a:xfrm>
          <a:prstGeom prst="rect">
            <a:avLst/>
          </a:prstGeom>
          <a:noFill/>
        </p:spPr>
        <p:txBody>
          <a:bodyPr wrap="square" numCol="1" rtlCol="0">
            <a:spAutoFit/>
          </a:bodyPr>
          <a:lstStyle/>
          <a:p>
            <a:pPr marL="1143000" indent="-11430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Everyone uses Excel</a:t>
            </a:r>
          </a:p>
          <a:p>
            <a:pPr marL="1143000" indent="-11430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No one owns it</a:t>
            </a:r>
          </a:p>
          <a:p>
            <a:pPr marL="1143000" indent="-11430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Everyone assumes proficiency</a:t>
            </a:r>
          </a:p>
        </p:txBody>
      </p:sp>
      <p:pic>
        <p:nvPicPr>
          <p:cNvPr id="15" name="Picture 14" descr="A close up of a sign&#10;&#10;Description automatically generated">
            <a:extLst>
              <a:ext uri="{FF2B5EF4-FFF2-40B4-BE49-F238E27FC236}">
                <a16:creationId xmlns:a16="http://schemas.microsoft.com/office/drawing/2014/main" id="{8F0BFE9B-3C56-8419-9E98-D44987BB3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955147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A572-AFA7-6CB9-65DD-2EBE15E1949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C6C6ADD-548B-8C85-38FF-967CA85D7E06}"/>
              </a:ext>
            </a:extLst>
          </p:cNvPr>
          <p:cNvSpPr txBox="1"/>
          <p:nvPr/>
        </p:nvSpPr>
        <p:spPr>
          <a:xfrm>
            <a:off x="520861" y="170082"/>
            <a:ext cx="15820175" cy="1477328"/>
          </a:xfrm>
          <a:prstGeom prst="rect">
            <a:avLst/>
          </a:prstGeom>
          <a:noFill/>
        </p:spPr>
        <p:txBody>
          <a:bodyPr wrap="square" rtlCol="0">
            <a:spAutoFit/>
          </a:bodyPr>
          <a:lstStyle/>
          <a:p>
            <a:r>
              <a:rPr lang="en-US" sz="9000" dirty="0">
                <a:latin typeface="Aliens &amp; cows" panose="00000500000000000000" pitchFamily="2" charset="0"/>
              </a:rPr>
              <a:t>The cost</a:t>
            </a:r>
          </a:p>
        </p:txBody>
      </p:sp>
      <p:sp>
        <p:nvSpPr>
          <p:cNvPr id="3" name="TextBox 2">
            <a:extLst>
              <a:ext uri="{FF2B5EF4-FFF2-40B4-BE49-F238E27FC236}">
                <a16:creationId xmlns:a16="http://schemas.microsoft.com/office/drawing/2014/main" id="{FF71A3AF-628B-B953-B773-490758775438}"/>
              </a:ext>
            </a:extLst>
          </p:cNvPr>
          <p:cNvSpPr txBox="1"/>
          <p:nvPr/>
        </p:nvSpPr>
        <p:spPr>
          <a:xfrm>
            <a:off x="520860" y="3191948"/>
            <a:ext cx="17386139" cy="3046988"/>
          </a:xfrm>
          <a:prstGeom prst="rect">
            <a:avLst/>
          </a:prstGeom>
          <a:noFill/>
        </p:spPr>
        <p:txBody>
          <a:bodyPr wrap="square" numCol="1" rtlCol="0">
            <a:spAutoFit/>
          </a:bodyPr>
          <a:lstStyle/>
          <a:p>
            <a:pPr>
              <a:buClr>
                <a:srgbClr val="CF3338"/>
              </a:buClr>
            </a:pPr>
            <a:r>
              <a:rPr lang="en-US" sz="9600" dirty="0">
                <a:solidFill>
                  <a:srgbClr val="707070"/>
                </a:solidFill>
                <a:latin typeface="Pragmatica" panose="020B0403040502020204" pitchFamily="34" charset="0"/>
              </a:rPr>
              <a:t>The cost rarely shows up as a budget line</a:t>
            </a:r>
          </a:p>
        </p:txBody>
      </p:sp>
      <p:pic>
        <p:nvPicPr>
          <p:cNvPr id="15" name="Picture 14" descr="A close up of a sign&#10;&#10;Description automatically generated">
            <a:extLst>
              <a:ext uri="{FF2B5EF4-FFF2-40B4-BE49-F238E27FC236}">
                <a16:creationId xmlns:a16="http://schemas.microsoft.com/office/drawing/2014/main" id="{1FE04877-4BC3-B98A-65DA-936FD012A1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904056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A2925-9DB2-4FA6-D557-629545963EF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C63D05A-D3D9-4FF2-4D78-369A8BB6F1CD}"/>
              </a:ext>
            </a:extLst>
          </p:cNvPr>
          <p:cNvSpPr txBox="1"/>
          <p:nvPr/>
        </p:nvSpPr>
        <p:spPr>
          <a:xfrm>
            <a:off x="520861" y="170082"/>
            <a:ext cx="15820175" cy="1477328"/>
          </a:xfrm>
          <a:prstGeom prst="rect">
            <a:avLst/>
          </a:prstGeom>
          <a:noFill/>
        </p:spPr>
        <p:txBody>
          <a:bodyPr wrap="square" rtlCol="0">
            <a:spAutoFit/>
          </a:bodyPr>
          <a:lstStyle/>
          <a:p>
            <a:r>
              <a:rPr lang="en-US" sz="9000" dirty="0">
                <a:latin typeface="Aliens &amp; cows" panose="00000500000000000000" pitchFamily="2" charset="0"/>
              </a:rPr>
              <a:t>The uncomfortable reality</a:t>
            </a:r>
          </a:p>
        </p:txBody>
      </p:sp>
      <p:sp>
        <p:nvSpPr>
          <p:cNvPr id="3" name="TextBox 2">
            <a:extLst>
              <a:ext uri="{FF2B5EF4-FFF2-40B4-BE49-F238E27FC236}">
                <a16:creationId xmlns:a16="http://schemas.microsoft.com/office/drawing/2014/main" id="{2E975280-85A9-CAEC-8F22-6869AB69DDBB}"/>
              </a:ext>
            </a:extLst>
          </p:cNvPr>
          <p:cNvSpPr txBox="1"/>
          <p:nvPr/>
        </p:nvSpPr>
        <p:spPr>
          <a:xfrm>
            <a:off x="520860" y="3191948"/>
            <a:ext cx="17386139" cy="3046988"/>
          </a:xfrm>
          <a:prstGeom prst="rect">
            <a:avLst/>
          </a:prstGeom>
          <a:noFill/>
        </p:spPr>
        <p:txBody>
          <a:bodyPr wrap="square" numCol="1" rtlCol="0">
            <a:spAutoFit/>
          </a:bodyPr>
          <a:lstStyle/>
          <a:p>
            <a:pPr>
              <a:buClr>
                <a:srgbClr val="CF3338"/>
              </a:buClr>
            </a:pPr>
            <a:r>
              <a:rPr lang="en-US" sz="9600" dirty="0">
                <a:solidFill>
                  <a:srgbClr val="707070"/>
                </a:solidFill>
                <a:latin typeface="Pragmatica" panose="020B0403040502020204" pitchFamily="34" charset="0"/>
              </a:rPr>
              <a:t>Excel is still where the decisions happen</a:t>
            </a:r>
          </a:p>
        </p:txBody>
      </p:sp>
      <p:pic>
        <p:nvPicPr>
          <p:cNvPr id="15" name="Picture 14" descr="A close up of a sign&#10;&#10;Description automatically generated">
            <a:extLst>
              <a:ext uri="{FF2B5EF4-FFF2-40B4-BE49-F238E27FC236}">
                <a16:creationId xmlns:a16="http://schemas.microsoft.com/office/drawing/2014/main" id="{7F2926B4-328A-69B6-7B9C-562A74A033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570708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FC63E-7B99-CB22-039B-B88ADFEFFA08}"/>
            </a:ext>
          </a:extLst>
        </p:cNvPr>
        <p:cNvGrpSpPr/>
        <p:nvPr/>
      </p:nvGrpSpPr>
      <p:grpSpPr>
        <a:xfrm>
          <a:off x="0" y="0"/>
          <a:ext cx="0" cy="0"/>
          <a:chOff x="0" y="0"/>
          <a:chExt cx="0" cy="0"/>
        </a:xfrm>
      </p:grpSpPr>
      <p:pic>
        <p:nvPicPr>
          <p:cNvPr id="15" name="Picture 14" descr="A close up of a sign&#10;&#10;Description automatically generated">
            <a:extLst>
              <a:ext uri="{FF2B5EF4-FFF2-40B4-BE49-F238E27FC236}">
                <a16:creationId xmlns:a16="http://schemas.microsoft.com/office/drawing/2014/main" id="{21703FDE-BBFD-41D7-6765-FEE8A4C0D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2" name="Diagram 1">
            <a:extLst>
              <a:ext uri="{FF2B5EF4-FFF2-40B4-BE49-F238E27FC236}">
                <a16:creationId xmlns:a16="http://schemas.microsoft.com/office/drawing/2014/main" id="{D86062FC-FF47-FE44-726C-17DECD740860}"/>
              </a:ext>
            </a:extLst>
          </p:cNvPr>
          <p:cNvGraphicFramePr/>
          <p:nvPr>
            <p:extLst>
              <p:ext uri="{D42A27DB-BD31-4B8C-83A1-F6EECF244321}">
                <p14:modId xmlns:p14="http://schemas.microsoft.com/office/powerpoint/2010/main" val="3227263380"/>
              </p:ext>
            </p:extLst>
          </p:nvPr>
        </p:nvGraphicFramePr>
        <p:xfrm>
          <a:off x="990600" y="777329"/>
          <a:ext cx="15697200" cy="8534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93C97DD4-F47D-6E58-73AA-13C8C6ACE60B}"/>
              </a:ext>
            </a:extLst>
          </p:cNvPr>
          <p:cNvSpPr txBox="1"/>
          <p:nvPr/>
        </p:nvSpPr>
        <p:spPr>
          <a:xfrm>
            <a:off x="5486400" y="9311729"/>
            <a:ext cx="7315200" cy="769441"/>
          </a:xfrm>
          <a:prstGeom prst="rect">
            <a:avLst/>
          </a:prstGeom>
          <a:noFill/>
        </p:spPr>
        <p:txBody>
          <a:bodyPr wrap="square" rtlCol="0">
            <a:spAutoFit/>
          </a:bodyPr>
          <a:lstStyle/>
          <a:p>
            <a:pPr algn="ctr"/>
            <a:r>
              <a:rPr lang="en-US" sz="4400" dirty="0"/>
              <a:t>Low standardization</a:t>
            </a:r>
          </a:p>
        </p:txBody>
      </p:sp>
      <p:sp>
        <p:nvSpPr>
          <p:cNvPr id="5" name="TextBox 4">
            <a:extLst>
              <a:ext uri="{FF2B5EF4-FFF2-40B4-BE49-F238E27FC236}">
                <a16:creationId xmlns:a16="http://schemas.microsoft.com/office/drawing/2014/main" id="{5CDF2313-704D-E71D-0964-D6A5300933C5}"/>
              </a:ext>
            </a:extLst>
          </p:cNvPr>
          <p:cNvSpPr txBox="1"/>
          <p:nvPr/>
        </p:nvSpPr>
        <p:spPr>
          <a:xfrm>
            <a:off x="5181600" y="-71049"/>
            <a:ext cx="7315200" cy="769441"/>
          </a:xfrm>
          <a:prstGeom prst="rect">
            <a:avLst/>
          </a:prstGeom>
          <a:noFill/>
        </p:spPr>
        <p:txBody>
          <a:bodyPr wrap="square" rtlCol="0">
            <a:spAutoFit/>
          </a:bodyPr>
          <a:lstStyle/>
          <a:p>
            <a:pPr algn="ctr"/>
            <a:r>
              <a:rPr lang="en-US" sz="4400" dirty="0"/>
              <a:t>High standardization</a:t>
            </a:r>
          </a:p>
        </p:txBody>
      </p:sp>
      <p:sp>
        <p:nvSpPr>
          <p:cNvPr id="6" name="TextBox 5">
            <a:extLst>
              <a:ext uri="{FF2B5EF4-FFF2-40B4-BE49-F238E27FC236}">
                <a16:creationId xmlns:a16="http://schemas.microsoft.com/office/drawing/2014/main" id="{868F59D2-7CF8-BD28-18BC-C71665E1B0CD}"/>
              </a:ext>
            </a:extLst>
          </p:cNvPr>
          <p:cNvSpPr txBox="1"/>
          <p:nvPr/>
        </p:nvSpPr>
        <p:spPr>
          <a:xfrm>
            <a:off x="533400" y="4420225"/>
            <a:ext cx="4038600" cy="1446550"/>
          </a:xfrm>
          <a:prstGeom prst="rect">
            <a:avLst/>
          </a:prstGeom>
          <a:noFill/>
        </p:spPr>
        <p:txBody>
          <a:bodyPr wrap="square" rtlCol="0">
            <a:spAutoFit/>
          </a:bodyPr>
          <a:lstStyle/>
          <a:p>
            <a:pPr algn="ctr"/>
            <a:r>
              <a:rPr lang="en-US" sz="4400" dirty="0"/>
              <a:t>Low uncertainty of work</a:t>
            </a:r>
          </a:p>
        </p:txBody>
      </p:sp>
      <p:sp>
        <p:nvSpPr>
          <p:cNvPr id="7" name="TextBox 6">
            <a:extLst>
              <a:ext uri="{FF2B5EF4-FFF2-40B4-BE49-F238E27FC236}">
                <a16:creationId xmlns:a16="http://schemas.microsoft.com/office/drawing/2014/main" id="{8C12B87A-730C-4BFD-0437-996DF9C3BFC4}"/>
              </a:ext>
            </a:extLst>
          </p:cNvPr>
          <p:cNvSpPr txBox="1"/>
          <p:nvPr/>
        </p:nvSpPr>
        <p:spPr>
          <a:xfrm>
            <a:off x="13092545" y="4420225"/>
            <a:ext cx="4038600" cy="1446550"/>
          </a:xfrm>
          <a:prstGeom prst="rect">
            <a:avLst/>
          </a:prstGeom>
          <a:noFill/>
        </p:spPr>
        <p:txBody>
          <a:bodyPr wrap="square" rtlCol="0">
            <a:spAutoFit/>
          </a:bodyPr>
          <a:lstStyle/>
          <a:p>
            <a:pPr algn="ctr"/>
            <a:r>
              <a:rPr lang="en-US" sz="4400" dirty="0"/>
              <a:t>High uncertainty of work</a:t>
            </a:r>
          </a:p>
        </p:txBody>
      </p:sp>
    </p:spTree>
    <p:extLst>
      <p:ext uri="{BB962C8B-B14F-4D97-AF65-F5344CB8AC3E}">
        <p14:creationId xmlns:p14="http://schemas.microsoft.com/office/powerpoint/2010/main" val="1444372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06ECA-275A-85BE-D4AF-CFD4EFDEE71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5B56843-EF97-49F8-3725-5D06D93508AA}"/>
              </a:ext>
            </a:extLst>
          </p:cNvPr>
          <p:cNvSpPr txBox="1"/>
          <p:nvPr/>
        </p:nvSpPr>
        <p:spPr>
          <a:xfrm>
            <a:off x="520861" y="170082"/>
            <a:ext cx="15820175" cy="1477328"/>
          </a:xfrm>
          <a:prstGeom prst="rect">
            <a:avLst/>
          </a:prstGeom>
          <a:noFill/>
        </p:spPr>
        <p:txBody>
          <a:bodyPr wrap="square" rtlCol="0">
            <a:spAutoFit/>
          </a:bodyPr>
          <a:lstStyle/>
          <a:p>
            <a:r>
              <a:rPr lang="en-US" sz="9000" dirty="0">
                <a:latin typeface="Aliens &amp; cows" panose="00000500000000000000" pitchFamily="2" charset="0"/>
              </a:rPr>
              <a:t>The real bottleneck</a:t>
            </a:r>
          </a:p>
        </p:txBody>
      </p:sp>
      <p:sp>
        <p:nvSpPr>
          <p:cNvPr id="3" name="TextBox 2">
            <a:extLst>
              <a:ext uri="{FF2B5EF4-FFF2-40B4-BE49-F238E27FC236}">
                <a16:creationId xmlns:a16="http://schemas.microsoft.com/office/drawing/2014/main" id="{69264B2A-902E-514D-DA3A-3072188180DC}"/>
              </a:ext>
            </a:extLst>
          </p:cNvPr>
          <p:cNvSpPr txBox="1"/>
          <p:nvPr/>
        </p:nvSpPr>
        <p:spPr>
          <a:xfrm>
            <a:off x="520860" y="3191948"/>
            <a:ext cx="17386139" cy="3046988"/>
          </a:xfrm>
          <a:prstGeom prst="rect">
            <a:avLst/>
          </a:prstGeom>
          <a:noFill/>
        </p:spPr>
        <p:txBody>
          <a:bodyPr wrap="square" numCol="1" rtlCol="0">
            <a:spAutoFit/>
          </a:bodyPr>
          <a:lstStyle/>
          <a:p>
            <a:pPr>
              <a:buClr>
                <a:srgbClr val="CF3338"/>
              </a:buClr>
            </a:pPr>
            <a:r>
              <a:rPr lang="en-US" sz="9600" dirty="0">
                <a:solidFill>
                  <a:srgbClr val="707070"/>
                </a:solidFill>
                <a:latin typeface="Pragmatica" panose="020B0403040502020204" pitchFamily="34" charset="0"/>
              </a:rPr>
              <a:t>Most analytics problems are not tool problems</a:t>
            </a:r>
          </a:p>
        </p:txBody>
      </p:sp>
      <p:pic>
        <p:nvPicPr>
          <p:cNvPr id="15" name="Picture 14" descr="A close up of a sign&#10;&#10;Description automatically generated">
            <a:extLst>
              <a:ext uri="{FF2B5EF4-FFF2-40B4-BE49-F238E27FC236}">
                <a16:creationId xmlns:a16="http://schemas.microsoft.com/office/drawing/2014/main" id="{C98DE326-0DB2-B1A2-295E-76315D924D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528962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C1777-D65D-7119-C941-C4F97BB76E8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94F26F9-15A2-B6BE-29C3-52E4D0952A75}"/>
              </a:ext>
            </a:extLst>
          </p:cNvPr>
          <p:cNvSpPr txBox="1"/>
          <p:nvPr/>
        </p:nvSpPr>
        <p:spPr>
          <a:xfrm>
            <a:off x="520861" y="170082"/>
            <a:ext cx="15820175" cy="2308324"/>
          </a:xfrm>
          <a:prstGeom prst="rect">
            <a:avLst/>
          </a:prstGeom>
          <a:noFill/>
        </p:spPr>
        <p:txBody>
          <a:bodyPr wrap="square" rtlCol="0">
            <a:spAutoFit/>
          </a:bodyPr>
          <a:lstStyle/>
          <a:p>
            <a:r>
              <a:rPr lang="en-US" sz="7200" dirty="0">
                <a:latin typeface="Aliens &amp; cows" panose="00000500000000000000" pitchFamily="2" charset="0"/>
              </a:rPr>
              <a:t>What changes when Excel is treated seriously</a:t>
            </a:r>
          </a:p>
        </p:txBody>
      </p:sp>
      <p:sp>
        <p:nvSpPr>
          <p:cNvPr id="3" name="TextBox 2">
            <a:extLst>
              <a:ext uri="{FF2B5EF4-FFF2-40B4-BE49-F238E27FC236}">
                <a16:creationId xmlns:a16="http://schemas.microsoft.com/office/drawing/2014/main" id="{BB9820E0-0640-1735-7803-7644B510EF88}"/>
              </a:ext>
            </a:extLst>
          </p:cNvPr>
          <p:cNvSpPr txBox="1"/>
          <p:nvPr/>
        </p:nvSpPr>
        <p:spPr>
          <a:xfrm>
            <a:off x="520860" y="3191948"/>
            <a:ext cx="17386139" cy="4708981"/>
          </a:xfrm>
          <a:prstGeom prst="rect">
            <a:avLst/>
          </a:prstGeom>
          <a:noFill/>
        </p:spPr>
        <p:txBody>
          <a:bodyPr wrap="square" numCol="1" rtlCol="0">
            <a:spAutoFit/>
          </a:bodyPr>
          <a:lstStyle/>
          <a:p>
            <a:pPr>
              <a:buClr>
                <a:srgbClr val="CF3338"/>
              </a:buClr>
            </a:pPr>
            <a:r>
              <a:rPr lang="en-US" sz="6000" dirty="0">
                <a:solidFill>
                  <a:srgbClr val="707070"/>
                </a:solidFill>
                <a:latin typeface="Pragmatica" panose="020B0403040502020204" pitchFamily="34" charset="0"/>
              </a:rPr>
              <a:t>Teams:</a:t>
            </a:r>
          </a:p>
          <a:p>
            <a:pPr marL="1143000" indent="-11430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Spend less time rebuilding</a:t>
            </a:r>
          </a:p>
          <a:p>
            <a:pPr marL="1143000" indent="-11430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Trust outputs more</a:t>
            </a:r>
          </a:p>
          <a:p>
            <a:pPr marL="1143000" indent="-11430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Argue about assumptions instead of formulas</a:t>
            </a:r>
          </a:p>
          <a:p>
            <a:pPr marL="1143000" indent="-11430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Use fewer tools, more effectively</a:t>
            </a:r>
          </a:p>
        </p:txBody>
      </p:sp>
      <p:pic>
        <p:nvPicPr>
          <p:cNvPr id="15" name="Picture 14" descr="A close up of a sign&#10;&#10;Description automatically generated">
            <a:extLst>
              <a:ext uri="{FF2B5EF4-FFF2-40B4-BE49-F238E27FC236}">
                <a16:creationId xmlns:a16="http://schemas.microsoft.com/office/drawing/2014/main" id="{AF061544-57C8-FBF9-3B69-ED5F9437A3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052296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F50F1-8925-7F80-6FF2-9CDD5291DCE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2AD75C3-9F4D-418E-B043-F732D5BD41E2}"/>
              </a:ext>
            </a:extLst>
          </p:cNvPr>
          <p:cNvSpPr txBox="1"/>
          <p:nvPr/>
        </p:nvSpPr>
        <p:spPr>
          <a:xfrm>
            <a:off x="520861" y="170082"/>
            <a:ext cx="15820175" cy="1200329"/>
          </a:xfrm>
          <a:prstGeom prst="rect">
            <a:avLst/>
          </a:prstGeom>
          <a:noFill/>
        </p:spPr>
        <p:txBody>
          <a:bodyPr wrap="square" rtlCol="0">
            <a:spAutoFit/>
          </a:bodyPr>
          <a:lstStyle/>
          <a:p>
            <a:r>
              <a:rPr lang="en-US" sz="7200" dirty="0">
                <a:latin typeface="Aliens &amp; cows" panose="00000500000000000000" pitchFamily="2" charset="0"/>
              </a:rPr>
              <a:t>How I work</a:t>
            </a:r>
          </a:p>
        </p:txBody>
      </p:sp>
      <p:pic>
        <p:nvPicPr>
          <p:cNvPr id="15" name="Picture 14" descr="A close up of a sign&#10;&#10;Description automatically generated">
            <a:extLst>
              <a:ext uri="{FF2B5EF4-FFF2-40B4-BE49-F238E27FC236}">
                <a16:creationId xmlns:a16="http://schemas.microsoft.com/office/drawing/2014/main" id="{703EAF2E-1015-EF78-A03B-7C03DD834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2" name="Content Placeholder 14">
            <a:extLst>
              <a:ext uri="{FF2B5EF4-FFF2-40B4-BE49-F238E27FC236}">
                <a16:creationId xmlns:a16="http://schemas.microsoft.com/office/drawing/2014/main" id="{52B598D1-E680-7B8C-193D-22217B6B4BA4}"/>
              </a:ext>
            </a:extLst>
          </p:cNvPr>
          <p:cNvGraphicFramePr>
            <a:graphicFrameLocks/>
          </p:cNvGraphicFramePr>
          <p:nvPr>
            <p:extLst>
              <p:ext uri="{D42A27DB-BD31-4B8C-83A1-F6EECF244321}">
                <p14:modId xmlns:p14="http://schemas.microsoft.com/office/powerpoint/2010/main" val="2406547975"/>
              </p:ext>
            </p:extLst>
          </p:nvPr>
        </p:nvGraphicFramePr>
        <p:xfrm>
          <a:off x="381000" y="2110225"/>
          <a:ext cx="16078200" cy="74528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18678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FB51A-F3F3-B434-5667-F0B60F8AE16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860D726-DC49-1582-97D3-37FEE7A875D3}"/>
              </a:ext>
            </a:extLst>
          </p:cNvPr>
          <p:cNvSpPr txBox="1"/>
          <p:nvPr/>
        </p:nvSpPr>
        <p:spPr>
          <a:xfrm>
            <a:off x="520861" y="170082"/>
            <a:ext cx="15820175" cy="1200329"/>
          </a:xfrm>
          <a:prstGeom prst="rect">
            <a:avLst/>
          </a:prstGeom>
          <a:noFill/>
        </p:spPr>
        <p:txBody>
          <a:bodyPr wrap="square" rtlCol="0">
            <a:spAutoFit/>
          </a:bodyPr>
          <a:lstStyle/>
          <a:p>
            <a:r>
              <a:rPr lang="en-US" sz="7200" dirty="0">
                <a:latin typeface="Aliens &amp; cows" panose="00000500000000000000" pitchFamily="2" charset="0"/>
              </a:rPr>
              <a:t>Closing</a:t>
            </a:r>
          </a:p>
        </p:txBody>
      </p:sp>
      <p:sp>
        <p:nvSpPr>
          <p:cNvPr id="3" name="TextBox 2">
            <a:extLst>
              <a:ext uri="{FF2B5EF4-FFF2-40B4-BE49-F238E27FC236}">
                <a16:creationId xmlns:a16="http://schemas.microsoft.com/office/drawing/2014/main" id="{7F704835-106D-E730-EC07-308FC714EF9B}"/>
              </a:ext>
            </a:extLst>
          </p:cNvPr>
          <p:cNvSpPr txBox="1"/>
          <p:nvPr/>
        </p:nvSpPr>
        <p:spPr>
          <a:xfrm>
            <a:off x="520860" y="3191948"/>
            <a:ext cx="17386139" cy="3785652"/>
          </a:xfrm>
          <a:prstGeom prst="rect">
            <a:avLst/>
          </a:prstGeom>
          <a:noFill/>
        </p:spPr>
        <p:txBody>
          <a:bodyPr wrap="square" numCol="1" rtlCol="0">
            <a:spAutoFit/>
          </a:bodyPr>
          <a:lstStyle/>
          <a:p>
            <a:pPr>
              <a:buClr>
                <a:srgbClr val="CF3338"/>
              </a:buClr>
            </a:pPr>
            <a:r>
              <a:rPr lang="en-US" sz="8000" dirty="0">
                <a:solidFill>
                  <a:srgbClr val="707070"/>
                </a:solidFill>
                <a:latin typeface="Pragmatica" panose="020B0403040502020204" pitchFamily="34" charset="0"/>
              </a:rPr>
              <a:t>The cheapest place to fix many analytics problems…</a:t>
            </a:r>
          </a:p>
          <a:p>
            <a:pPr>
              <a:buClr>
                <a:srgbClr val="CF3338"/>
              </a:buClr>
            </a:pPr>
            <a:r>
              <a:rPr lang="en-US" sz="8000" dirty="0">
                <a:solidFill>
                  <a:srgbClr val="707070"/>
                </a:solidFill>
                <a:latin typeface="Pragmatica" panose="020B0403040502020204" pitchFamily="34" charset="0"/>
              </a:rPr>
              <a:t>… is the tool you already rely on most</a:t>
            </a:r>
          </a:p>
        </p:txBody>
      </p:sp>
      <p:pic>
        <p:nvPicPr>
          <p:cNvPr id="15" name="Picture 14" descr="A close up of a sign&#10;&#10;Description automatically generated">
            <a:extLst>
              <a:ext uri="{FF2B5EF4-FFF2-40B4-BE49-F238E27FC236}">
                <a16:creationId xmlns:a16="http://schemas.microsoft.com/office/drawing/2014/main" id="{987893A6-96D7-FCC1-3CB4-4AB6DEA45C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1398501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0303B-EC3F-154C-4187-DAD9F963A88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337513-DF97-4B7C-B839-0CA68CFA33D1}"/>
              </a:ext>
            </a:extLst>
          </p:cNvPr>
          <p:cNvSpPr txBox="1"/>
          <p:nvPr/>
        </p:nvSpPr>
        <p:spPr>
          <a:xfrm>
            <a:off x="520861" y="170082"/>
            <a:ext cx="15820175" cy="1200329"/>
          </a:xfrm>
          <a:prstGeom prst="rect">
            <a:avLst/>
          </a:prstGeom>
          <a:noFill/>
        </p:spPr>
        <p:txBody>
          <a:bodyPr wrap="square" rtlCol="0">
            <a:spAutoFit/>
          </a:bodyPr>
          <a:lstStyle/>
          <a:p>
            <a:r>
              <a:rPr lang="en-US" sz="7200" dirty="0"/>
              <a:t>Logistics &amp; next steps</a:t>
            </a:r>
            <a:endParaRPr lang="en-US" sz="7200" dirty="0">
              <a:latin typeface="Aliens &amp; cows" panose="00000500000000000000" pitchFamily="2" charset="0"/>
            </a:endParaRPr>
          </a:p>
        </p:txBody>
      </p:sp>
      <p:sp>
        <p:nvSpPr>
          <p:cNvPr id="3" name="TextBox 2">
            <a:extLst>
              <a:ext uri="{FF2B5EF4-FFF2-40B4-BE49-F238E27FC236}">
                <a16:creationId xmlns:a16="http://schemas.microsoft.com/office/drawing/2014/main" id="{0EF226B1-D3F7-6EB4-4E25-3386E315DCCE}"/>
              </a:ext>
            </a:extLst>
          </p:cNvPr>
          <p:cNvSpPr txBox="1"/>
          <p:nvPr/>
        </p:nvSpPr>
        <p:spPr>
          <a:xfrm>
            <a:off x="520860" y="3191948"/>
            <a:ext cx="17386139" cy="2123658"/>
          </a:xfrm>
          <a:prstGeom prst="rect">
            <a:avLst/>
          </a:prstGeom>
          <a:noFill/>
        </p:spPr>
        <p:txBody>
          <a:bodyPr wrap="square" numCol="1" rtlCol="0">
            <a:spAutoFit/>
          </a:bodyPr>
          <a:lstStyle/>
          <a:p>
            <a:pPr marL="1143000" indent="-1143000">
              <a:buClr>
                <a:srgbClr val="CF3338"/>
              </a:buClr>
              <a:buFont typeface="Arial" panose="020B0604020202020204" pitchFamily="34" charset="0"/>
              <a:buChar char="•"/>
            </a:pPr>
            <a:r>
              <a:rPr lang="en-US" sz="6600" dirty="0">
                <a:solidFill>
                  <a:srgbClr val="707070"/>
                </a:solidFill>
                <a:latin typeface="Pragmatica" panose="020B0403040502020204" pitchFamily="34" charset="0"/>
              </a:rPr>
              <a:t>Slides will be shared with registered attendees</a:t>
            </a:r>
          </a:p>
          <a:p>
            <a:pPr marL="1143000" indent="-1143000">
              <a:buClr>
                <a:srgbClr val="CF3338"/>
              </a:buClr>
              <a:buFont typeface="Arial" panose="020B0604020202020204" pitchFamily="34" charset="0"/>
              <a:buChar char="•"/>
            </a:pPr>
            <a:r>
              <a:rPr lang="en-US" sz="6600" dirty="0">
                <a:solidFill>
                  <a:srgbClr val="707070"/>
                </a:solidFill>
                <a:latin typeface="Pragmatica" panose="020B0403040502020204" pitchFamily="34" charset="0"/>
              </a:rPr>
              <a:t>Recording will be emailed after the session</a:t>
            </a:r>
          </a:p>
        </p:txBody>
      </p:sp>
      <p:pic>
        <p:nvPicPr>
          <p:cNvPr id="15" name="Picture 14" descr="A close up of a sign&#10;&#10;Description automatically generated">
            <a:extLst>
              <a:ext uri="{FF2B5EF4-FFF2-40B4-BE49-F238E27FC236}">
                <a16:creationId xmlns:a16="http://schemas.microsoft.com/office/drawing/2014/main" id="{1087ADAD-48EF-5418-C024-9A7320E942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1558048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323C9-D5F7-C820-78B9-E169BDF231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971779-1F50-1702-DEC1-87CD482189F0}"/>
              </a:ext>
            </a:extLst>
          </p:cNvPr>
          <p:cNvSpPr/>
          <p:nvPr/>
        </p:nvSpPr>
        <p:spPr>
          <a:xfrm>
            <a:off x="0" y="0"/>
            <a:ext cx="18288000" cy="10287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5ECC4C7B-C529-5329-03AC-796804551DC1}"/>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Q&amp;A</a:t>
            </a:r>
          </a:p>
        </p:txBody>
      </p:sp>
    </p:spTree>
    <p:extLst>
      <p:ext uri="{BB962C8B-B14F-4D97-AF65-F5344CB8AC3E}">
        <p14:creationId xmlns:p14="http://schemas.microsoft.com/office/powerpoint/2010/main" val="657829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0C042-4FA7-C99A-DB6A-E56C8A4C9F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8FBC8C-6CC2-040B-E74D-EA0547D9066A}"/>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C3242B5A-8DE0-9FEB-CCC9-737A969B938A}"/>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Thank you</a:t>
            </a:r>
          </a:p>
        </p:txBody>
      </p:sp>
    </p:spTree>
    <p:extLst>
      <p:ext uri="{BB962C8B-B14F-4D97-AF65-F5344CB8AC3E}">
        <p14:creationId xmlns:p14="http://schemas.microsoft.com/office/powerpoint/2010/main" val="3998672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2699</TotalTime>
  <Words>4353</Words>
  <Application>Microsoft Office PowerPoint</Application>
  <PresentationFormat>Custom</PresentationFormat>
  <Paragraphs>238</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Pragmatica</vt:lpstr>
      <vt:lpstr>Aliens &amp; cows</vt:lpstr>
      <vt:lpstr>Arial</vt:lpstr>
      <vt:lpstr>Normafixed Tryout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243</cp:revision>
  <dcterms:created xsi:type="dcterms:W3CDTF">2006-08-16T00:00:00Z</dcterms:created>
  <dcterms:modified xsi:type="dcterms:W3CDTF">2026-02-23T17:52:10Z</dcterms:modified>
  <dc:identifier>DADurESpNu8</dc:identifier>
</cp:coreProperties>
</file>