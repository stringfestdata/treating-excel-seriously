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7"/>
  </p:notesMasterIdLst>
  <p:sldIdLst>
    <p:sldId id="256" r:id="rId2"/>
    <p:sldId id="425" r:id="rId3"/>
    <p:sldId id="426" r:id="rId4"/>
    <p:sldId id="458" r:id="rId5"/>
    <p:sldId id="459" r:id="rId6"/>
    <p:sldId id="460" r:id="rId7"/>
    <p:sldId id="461" r:id="rId8"/>
    <p:sldId id="462" r:id="rId9"/>
    <p:sldId id="463" r:id="rId10"/>
    <p:sldId id="464" r:id="rId11"/>
    <p:sldId id="465" r:id="rId12"/>
    <p:sldId id="466" r:id="rId13"/>
    <p:sldId id="467" r:id="rId14"/>
    <p:sldId id="427" r:id="rId15"/>
    <p:sldId id="453" r:id="rId16"/>
  </p:sldIdLst>
  <p:sldSz cx="18288000" cy="10287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7684158-E8C8-9BE0-21EB-718D906F94A5}" name="George Mount" initials="GM" userId="S::george@stringfestanalytics.com::22d0b802-afc6-4b8f-ba57-7a855d96927f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George Mount" initials="GM" lastIdx="9" clrIdx="0">
    <p:extLst>
      <p:ext uri="{19B8F6BF-5375-455C-9EA6-DF929625EA0E}">
        <p15:presenceInfo xmlns:p15="http://schemas.microsoft.com/office/powerpoint/2012/main" userId="57d2ab2a84d54c81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F3338"/>
    <a:srgbClr val="3D393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92" autoAdjust="0"/>
    <p:restoredTop sz="63484" autoAdjust="0"/>
  </p:normalViewPr>
  <p:slideViewPr>
    <p:cSldViewPr>
      <p:cViewPr varScale="1">
        <p:scale>
          <a:sx n="31" d="100"/>
          <a:sy n="31" d="100"/>
        </p:scale>
        <p:origin x="912" y="3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40" d="100"/>
        <a:sy n="14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8/10/relationships/authors" Target="authors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E48DA5D-A0F9-4504-9C4A-C8D42AD70298}" type="doc">
      <dgm:prSet loTypeId="urn:microsoft.com/office/officeart/2005/8/layout/matrix2" loCatId="matrix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397F9A8B-7E6A-427C-8CDE-2002F0FEEF25}">
      <dgm:prSet phldrT="[Text]" phldr="0" custT="1"/>
      <dgm:spPr>
        <a:solidFill>
          <a:srgbClr val="CF3338"/>
        </a:solidFill>
      </dgm:spPr>
      <dgm:t>
        <a:bodyPr/>
        <a:lstStyle/>
        <a:p>
          <a:r>
            <a:rPr lang="en-US" sz="4400" dirty="0"/>
            <a:t>Repeatable reporting</a:t>
          </a:r>
        </a:p>
      </dgm:t>
    </dgm:pt>
    <dgm:pt modelId="{02EABD84-BF7B-43EC-9B77-E118E9225D57}" type="parTrans" cxnId="{5658A723-79A9-4985-A83E-38B9DA78ED1B}">
      <dgm:prSet/>
      <dgm:spPr/>
      <dgm:t>
        <a:bodyPr/>
        <a:lstStyle/>
        <a:p>
          <a:endParaRPr lang="en-US"/>
        </a:p>
      </dgm:t>
    </dgm:pt>
    <dgm:pt modelId="{B33172C1-0C58-46A6-8E4D-985DB84BDBAC}" type="sibTrans" cxnId="{5658A723-79A9-4985-A83E-38B9DA78ED1B}">
      <dgm:prSet/>
      <dgm:spPr/>
      <dgm:t>
        <a:bodyPr/>
        <a:lstStyle/>
        <a:p>
          <a:endParaRPr lang="en-US"/>
        </a:p>
      </dgm:t>
    </dgm:pt>
    <dgm:pt modelId="{F6A314E0-9FF3-4139-B2E4-BACE056C10F0}">
      <dgm:prSet phldrT="[Text]" phldr="0" custT="1"/>
      <dgm:spPr>
        <a:solidFill>
          <a:srgbClr val="CF3338"/>
        </a:solidFill>
      </dgm:spPr>
      <dgm:t>
        <a:bodyPr/>
        <a:lstStyle/>
        <a:p>
          <a:r>
            <a:rPr lang="en-US" sz="4800" dirty="0"/>
            <a:t>Competing needs</a:t>
          </a:r>
        </a:p>
      </dgm:t>
    </dgm:pt>
    <dgm:pt modelId="{EB14B043-36A0-4F81-9FC9-D77FA38DDC77}" type="parTrans" cxnId="{FC31D7FD-0274-4430-8EC2-EA9C7FAA5375}">
      <dgm:prSet/>
      <dgm:spPr/>
      <dgm:t>
        <a:bodyPr/>
        <a:lstStyle/>
        <a:p>
          <a:endParaRPr lang="en-US"/>
        </a:p>
      </dgm:t>
    </dgm:pt>
    <dgm:pt modelId="{A45B2DAA-B1FE-46D8-9891-EE5D8726200C}" type="sibTrans" cxnId="{FC31D7FD-0274-4430-8EC2-EA9C7FAA5375}">
      <dgm:prSet/>
      <dgm:spPr/>
      <dgm:t>
        <a:bodyPr/>
        <a:lstStyle/>
        <a:p>
          <a:endParaRPr lang="en-US"/>
        </a:p>
      </dgm:t>
    </dgm:pt>
    <dgm:pt modelId="{891F0A84-ED13-4725-8E20-6120A082013F}">
      <dgm:prSet phldrT="[Text]" custT="1"/>
      <dgm:spPr>
        <a:solidFill>
          <a:srgbClr val="CF3338"/>
        </a:solidFill>
      </dgm:spPr>
      <dgm:t>
        <a:bodyPr/>
        <a:lstStyle/>
        <a:p>
          <a:r>
            <a:rPr lang="en-US" sz="4800" dirty="0"/>
            <a:t>Personal analysis &amp; quick checks</a:t>
          </a:r>
        </a:p>
      </dgm:t>
    </dgm:pt>
    <dgm:pt modelId="{20337035-8EE0-40E2-87A5-02A30B024F3C}" type="parTrans" cxnId="{E28F34D1-F3C4-4CBF-B2C1-BAD0DD50FD59}">
      <dgm:prSet/>
      <dgm:spPr/>
      <dgm:t>
        <a:bodyPr/>
        <a:lstStyle/>
        <a:p>
          <a:endParaRPr lang="en-US"/>
        </a:p>
      </dgm:t>
    </dgm:pt>
    <dgm:pt modelId="{F45723E6-698F-4435-BE15-2DE7E79CFF55}" type="sibTrans" cxnId="{E28F34D1-F3C4-4CBF-B2C1-BAD0DD50FD59}">
      <dgm:prSet/>
      <dgm:spPr/>
      <dgm:t>
        <a:bodyPr/>
        <a:lstStyle/>
        <a:p>
          <a:endParaRPr lang="en-US"/>
        </a:p>
      </dgm:t>
    </dgm:pt>
    <dgm:pt modelId="{3ECCA8D6-2A2B-475C-9806-4F8A51F8F63E}">
      <dgm:prSet phldrT="[Text]" phldr="0" custT="1"/>
      <dgm:spPr>
        <a:solidFill>
          <a:srgbClr val="CF3338"/>
        </a:solidFill>
      </dgm:spPr>
      <dgm:t>
        <a:bodyPr/>
        <a:lstStyle/>
        <a:p>
          <a:r>
            <a:rPr lang="en-US" sz="4400" dirty="0"/>
            <a:t>Exploration, scenarios, and “What if”</a:t>
          </a:r>
        </a:p>
      </dgm:t>
    </dgm:pt>
    <dgm:pt modelId="{9165DDC7-CF59-4275-A0CF-7ECED7E5AD15}" type="parTrans" cxnId="{026858C1-4DA2-46EA-8DCF-918A6FBB1384}">
      <dgm:prSet/>
      <dgm:spPr/>
      <dgm:t>
        <a:bodyPr/>
        <a:lstStyle/>
        <a:p>
          <a:endParaRPr lang="en-US"/>
        </a:p>
      </dgm:t>
    </dgm:pt>
    <dgm:pt modelId="{871F2948-2534-4F5D-95A8-694490BEA89D}" type="sibTrans" cxnId="{026858C1-4DA2-46EA-8DCF-918A6FBB1384}">
      <dgm:prSet/>
      <dgm:spPr/>
      <dgm:t>
        <a:bodyPr/>
        <a:lstStyle/>
        <a:p>
          <a:endParaRPr lang="en-US"/>
        </a:p>
      </dgm:t>
    </dgm:pt>
    <dgm:pt modelId="{4954C599-943C-4E41-BB7B-BC96F7341DEF}" type="pres">
      <dgm:prSet presAssocID="{AE48DA5D-A0F9-4504-9C4A-C8D42AD70298}" presName="matrix" presStyleCnt="0">
        <dgm:presLayoutVars>
          <dgm:chMax val="1"/>
          <dgm:dir/>
          <dgm:resizeHandles val="exact"/>
        </dgm:presLayoutVars>
      </dgm:prSet>
      <dgm:spPr/>
    </dgm:pt>
    <dgm:pt modelId="{393E082B-C5F8-4195-ADEE-E56F18CBAED7}" type="pres">
      <dgm:prSet presAssocID="{AE48DA5D-A0F9-4504-9C4A-C8D42AD70298}" presName="axisShape" presStyleLbl="bgShp" presStyleIdx="0" presStyleCnt="1"/>
      <dgm:spPr/>
    </dgm:pt>
    <dgm:pt modelId="{64D717D4-E5B6-4C42-A541-FBF628E1E9AE}" type="pres">
      <dgm:prSet presAssocID="{AE48DA5D-A0F9-4504-9C4A-C8D42AD70298}" presName="rect1" presStyleLbl="node1" presStyleIdx="0" presStyleCnt="4">
        <dgm:presLayoutVars>
          <dgm:chMax val="0"/>
          <dgm:chPref val="0"/>
          <dgm:bulletEnabled val="1"/>
        </dgm:presLayoutVars>
      </dgm:prSet>
      <dgm:spPr/>
    </dgm:pt>
    <dgm:pt modelId="{C170CAE2-B353-4B39-9F29-53896209F55E}" type="pres">
      <dgm:prSet presAssocID="{AE48DA5D-A0F9-4504-9C4A-C8D42AD70298}" presName="rect2" presStyleLbl="node1" presStyleIdx="1" presStyleCnt="4">
        <dgm:presLayoutVars>
          <dgm:chMax val="0"/>
          <dgm:chPref val="0"/>
          <dgm:bulletEnabled val="1"/>
        </dgm:presLayoutVars>
      </dgm:prSet>
      <dgm:spPr/>
    </dgm:pt>
    <dgm:pt modelId="{F1142FEF-1964-4950-95FA-888CA15C59AC}" type="pres">
      <dgm:prSet presAssocID="{AE48DA5D-A0F9-4504-9C4A-C8D42AD70298}" presName="rect3" presStyleLbl="node1" presStyleIdx="2" presStyleCnt="4">
        <dgm:presLayoutVars>
          <dgm:chMax val="0"/>
          <dgm:chPref val="0"/>
          <dgm:bulletEnabled val="1"/>
        </dgm:presLayoutVars>
      </dgm:prSet>
      <dgm:spPr/>
    </dgm:pt>
    <dgm:pt modelId="{D1C06DA0-5B46-407A-B1E4-1C281173DF4F}" type="pres">
      <dgm:prSet presAssocID="{AE48DA5D-A0F9-4504-9C4A-C8D42AD70298}" presName="rect4" presStyleLbl="node1" presStyleIdx="3" presStyleCnt="4">
        <dgm:presLayoutVars>
          <dgm:chMax val="0"/>
          <dgm:chPref val="0"/>
          <dgm:bulletEnabled val="1"/>
        </dgm:presLayoutVars>
      </dgm:prSet>
      <dgm:spPr/>
    </dgm:pt>
  </dgm:ptLst>
  <dgm:cxnLst>
    <dgm:cxn modelId="{5658A723-79A9-4985-A83E-38B9DA78ED1B}" srcId="{AE48DA5D-A0F9-4504-9C4A-C8D42AD70298}" destId="{397F9A8B-7E6A-427C-8CDE-2002F0FEEF25}" srcOrd="0" destOrd="0" parTransId="{02EABD84-BF7B-43EC-9B77-E118E9225D57}" sibTransId="{B33172C1-0C58-46A6-8E4D-985DB84BDBAC}"/>
    <dgm:cxn modelId="{540C0930-031B-4FDD-AD91-0169B8691247}" type="presOf" srcId="{397F9A8B-7E6A-427C-8CDE-2002F0FEEF25}" destId="{64D717D4-E5B6-4C42-A541-FBF628E1E9AE}" srcOrd="0" destOrd="0" presId="urn:microsoft.com/office/officeart/2005/8/layout/matrix2"/>
    <dgm:cxn modelId="{1DF7D638-D7DF-4634-A887-0F80A5EE960F}" type="presOf" srcId="{AE48DA5D-A0F9-4504-9C4A-C8D42AD70298}" destId="{4954C599-943C-4E41-BB7B-BC96F7341DEF}" srcOrd="0" destOrd="0" presId="urn:microsoft.com/office/officeart/2005/8/layout/matrix2"/>
    <dgm:cxn modelId="{4DD0B042-C6E8-4D4D-B277-F9D9E4966D25}" type="presOf" srcId="{F6A314E0-9FF3-4139-B2E4-BACE056C10F0}" destId="{C170CAE2-B353-4B39-9F29-53896209F55E}" srcOrd="0" destOrd="0" presId="urn:microsoft.com/office/officeart/2005/8/layout/matrix2"/>
    <dgm:cxn modelId="{CF8813B7-A76F-4875-92B1-5B1085621CE2}" type="presOf" srcId="{3ECCA8D6-2A2B-475C-9806-4F8A51F8F63E}" destId="{D1C06DA0-5B46-407A-B1E4-1C281173DF4F}" srcOrd="0" destOrd="0" presId="urn:microsoft.com/office/officeart/2005/8/layout/matrix2"/>
    <dgm:cxn modelId="{026858C1-4DA2-46EA-8DCF-918A6FBB1384}" srcId="{AE48DA5D-A0F9-4504-9C4A-C8D42AD70298}" destId="{3ECCA8D6-2A2B-475C-9806-4F8A51F8F63E}" srcOrd="3" destOrd="0" parTransId="{9165DDC7-CF59-4275-A0CF-7ECED7E5AD15}" sibTransId="{871F2948-2534-4F5D-95A8-694490BEA89D}"/>
    <dgm:cxn modelId="{E28F34D1-F3C4-4CBF-B2C1-BAD0DD50FD59}" srcId="{AE48DA5D-A0F9-4504-9C4A-C8D42AD70298}" destId="{891F0A84-ED13-4725-8E20-6120A082013F}" srcOrd="2" destOrd="0" parTransId="{20337035-8EE0-40E2-87A5-02A30B024F3C}" sibTransId="{F45723E6-698F-4435-BE15-2DE7E79CFF55}"/>
    <dgm:cxn modelId="{4C920CDF-15C9-4C7D-8772-523F10D89FCA}" type="presOf" srcId="{891F0A84-ED13-4725-8E20-6120A082013F}" destId="{F1142FEF-1964-4950-95FA-888CA15C59AC}" srcOrd="0" destOrd="0" presId="urn:microsoft.com/office/officeart/2005/8/layout/matrix2"/>
    <dgm:cxn modelId="{FC31D7FD-0274-4430-8EC2-EA9C7FAA5375}" srcId="{AE48DA5D-A0F9-4504-9C4A-C8D42AD70298}" destId="{F6A314E0-9FF3-4139-B2E4-BACE056C10F0}" srcOrd="1" destOrd="0" parTransId="{EB14B043-36A0-4F81-9FC9-D77FA38DDC77}" sibTransId="{A45B2DAA-B1FE-46D8-9891-EE5D8726200C}"/>
    <dgm:cxn modelId="{50197546-B4C2-4B2A-B272-D670DB47EA95}" type="presParOf" srcId="{4954C599-943C-4E41-BB7B-BC96F7341DEF}" destId="{393E082B-C5F8-4195-ADEE-E56F18CBAED7}" srcOrd="0" destOrd="0" presId="urn:microsoft.com/office/officeart/2005/8/layout/matrix2"/>
    <dgm:cxn modelId="{42B4F310-073C-4BDD-BA6C-3CA5816C4A4F}" type="presParOf" srcId="{4954C599-943C-4E41-BB7B-BC96F7341DEF}" destId="{64D717D4-E5B6-4C42-A541-FBF628E1E9AE}" srcOrd="1" destOrd="0" presId="urn:microsoft.com/office/officeart/2005/8/layout/matrix2"/>
    <dgm:cxn modelId="{C52C5813-E999-4C3A-B727-C9A3869422BD}" type="presParOf" srcId="{4954C599-943C-4E41-BB7B-BC96F7341DEF}" destId="{C170CAE2-B353-4B39-9F29-53896209F55E}" srcOrd="2" destOrd="0" presId="urn:microsoft.com/office/officeart/2005/8/layout/matrix2"/>
    <dgm:cxn modelId="{9A0EE688-33D7-45C8-9D3B-015FEA16D562}" type="presParOf" srcId="{4954C599-943C-4E41-BB7B-BC96F7341DEF}" destId="{F1142FEF-1964-4950-95FA-888CA15C59AC}" srcOrd="3" destOrd="0" presId="urn:microsoft.com/office/officeart/2005/8/layout/matrix2"/>
    <dgm:cxn modelId="{AA83FF33-E49A-46FD-B3D0-AB982722347C}" type="presParOf" srcId="{4954C599-943C-4E41-BB7B-BC96F7341DEF}" destId="{D1C06DA0-5B46-407A-B1E4-1C281173DF4F}" srcOrd="4" destOrd="0" presId="urn:microsoft.com/office/officeart/2005/8/layout/matrix2"/>
  </dgm:cxnLst>
  <dgm:bg>
    <a:noFill/>
  </dgm:bg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8798DD1-6FC4-4C34-9F3F-53BBEB998853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21FE27EC-10F4-47A1-8FD5-CD3496F54607}">
      <dgm:prSet phldrT="[Text]" phldr="0"/>
      <dgm:spPr>
        <a:solidFill>
          <a:srgbClr val="C00000"/>
        </a:solidFill>
      </dgm:spPr>
      <dgm:t>
        <a:bodyPr/>
        <a:lstStyle/>
        <a:p>
          <a:r>
            <a:rPr lang="en-US" b="1" dirty="0"/>
            <a:t>Individuals</a:t>
          </a:r>
        </a:p>
      </dgm:t>
    </dgm:pt>
    <dgm:pt modelId="{FF3D7B0C-E2C4-49B8-8C4B-AF120BF1E2B9}" type="parTrans" cxnId="{6C0172DF-D88B-41D4-B3F5-CA15E159222B}">
      <dgm:prSet/>
      <dgm:spPr/>
      <dgm:t>
        <a:bodyPr/>
        <a:lstStyle/>
        <a:p>
          <a:endParaRPr lang="en-US"/>
        </a:p>
      </dgm:t>
    </dgm:pt>
    <dgm:pt modelId="{969895C4-5161-439F-BA5B-C7930ADA9517}" type="sibTrans" cxnId="{6C0172DF-D88B-41D4-B3F5-CA15E159222B}">
      <dgm:prSet/>
      <dgm:spPr/>
      <dgm:t>
        <a:bodyPr/>
        <a:lstStyle/>
        <a:p>
          <a:endParaRPr lang="en-US"/>
        </a:p>
      </dgm:t>
    </dgm:pt>
    <dgm:pt modelId="{C24B2941-8C4E-47E5-93BE-9390D2CDBC89}">
      <dgm:prSet phldrT="[Text]" phldr="0"/>
      <dgm:spPr>
        <a:ln>
          <a:solidFill>
            <a:schemeClr val="bg1">
              <a:lumMod val="50000"/>
            </a:schemeClr>
          </a:solidFill>
        </a:ln>
      </dgm:spPr>
      <dgm:t>
        <a:bodyPr/>
        <a:lstStyle/>
        <a:p>
          <a:r>
            <a:rPr lang="en-US" dirty="0"/>
            <a:t>Self-paced courses &amp; live workshops</a:t>
          </a:r>
        </a:p>
      </dgm:t>
    </dgm:pt>
    <dgm:pt modelId="{C97A6C3A-9B27-45E4-8D96-A0B3EE805D38}" type="parTrans" cxnId="{6C6CBB06-B18A-42AC-8E9C-1FECB4298C8E}">
      <dgm:prSet/>
      <dgm:spPr/>
      <dgm:t>
        <a:bodyPr/>
        <a:lstStyle/>
        <a:p>
          <a:endParaRPr lang="en-US"/>
        </a:p>
      </dgm:t>
    </dgm:pt>
    <dgm:pt modelId="{95B33339-D74D-43E7-BBDD-70E0EB607FD8}" type="sibTrans" cxnId="{6C6CBB06-B18A-42AC-8E9C-1FECB4298C8E}">
      <dgm:prSet/>
      <dgm:spPr/>
      <dgm:t>
        <a:bodyPr/>
        <a:lstStyle/>
        <a:p>
          <a:endParaRPr lang="en-US"/>
        </a:p>
      </dgm:t>
    </dgm:pt>
    <dgm:pt modelId="{B4C039DB-28DF-4F2E-9047-FCE10E8B50F4}">
      <dgm:prSet phldrT="[Text]" phldr="0"/>
      <dgm:spPr>
        <a:ln>
          <a:solidFill>
            <a:schemeClr val="bg1">
              <a:lumMod val="50000"/>
            </a:schemeClr>
          </a:solidFill>
        </a:ln>
      </dgm:spPr>
      <dgm:t>
        <a:bodyPr/>
        <a:lstStyle/>
        <a:p>
          <a:r>
            <a:rPr lang="en-US" dirty="0"/>
            <a:t>Learn when to use formulas, Power Query, Python, and Copilot</a:t>
          </a:r>
        </a:p>
      </dgm:t>
    </dgm:pt>
    <dgm:pt modelId="{88E2D7DD-A20A-4D82-B7BA-495E3CA5520E}" type="parTrans" cxnId="{08744D63-46D0-44D2-900A-8851AAD8CEA3}">
      <dgm:prSet/>
      <dgm:spPr/>
      <dgm:t>
        <a:bodyPr/>
        <a:lstStyle/>
        <a:p>
          <a:endParaRPr lang="en-US"/>
        </a:p>
      </dgm:t>
    </dgm:pt>
    <dgm:pt modelId="{EFC160FF-009E-419D-9011-2FCCED5BFCAE}" type="sibTrans" cxnId="{08744D63-46D0-44D2-900A-8851AAD8CEA3}">
      <dgm:prSet/>
      <dgm:spPr/>
      <dgm:t>
        <a:bodyPr/>
        <a:lstStyle/>
        <a:p>
          <a:endParaRPr lang="en-US"/>
        </a:p>
      </dgm:t>
    </dgm:pt>
    <dgm:pt modelId="{31E0BBA0-32AB-44DE-85CB-3C80E6846810}">
      <dgm:prSet phldrT="[Text]" phldr="0"/>
      <dgm:spPr>
        <a:ln>
          <a:solidFill>
            <a:schemeClr val="bg1">
              <a:lumMod val="50000"/>
            </a:schemeClr>
          </a:solidFill>
        </a:ln>
      </dgm:spPr>
      <dgm:t>
        <a:bodyPr/>
        <a:lstStyle/>
        <a:p>
          <a:r>
            <a:rPr lang="en-US" dirty="0"/>
            <a:t>Focus on clarity, maintainability, and confidence</a:t>
          </a:r>
        </a:p>
      </dgm:t>
    </dgm:pt>
    <dgm:pt modelId="{BDE34EB0-9E1B-4FF4-9FC7-70742D76E4E6}" type="parTrans" cxnId="{9453C970-A133-42A1-BB1A-7672CEFA0687}">
      <dgm:prSet/>
      <dgm:spPr/>
      <dgm:t>
        <a:bodyPr/>
        <a:lstStyle/>
        <a:p>
          <a:endParaRPr lang="en-US"/>
        </a:p>
      </dgm:t>
    </dgm:pt>
    <dgm:pt modelId="{45E94802-E21A-4AC8-ACCB-FA38B41DCB9F}" type="sibTrans" cxnId="{9453C970-A133-42A1-BB1A-7672CEFA0687}">
      <dgm:prSet/>
      <dgm:spPr/>
      <dgm:t>
        <a:bodyPr/>
        <a:lstStyle/>
        <a:p>
          <a:endParaRPr lang="en-US"/>
        </a:p>
      </dgm:t>
    </dgm:pt>
    <dgm:pt modelId="{016DC79D-3BC0-41E5-8BCD-63EBA4F14C0D}">
      <dgm:prSet phldrT="[Text]" phldr="0"/>
      <dgm:spPr>
        <a:solidFill>
          <a:srgbClr val="C00000"/>
        </a:solidFill>
      </dgm:spPr>
      <dgm:t>
        <a:bodyPr/>
        <a:lstStyle/>
        <a:p>
          <a:r>
            <a:rPr lang="en-US" b="1" dirty="0"/>
            <a:t>Teams</a:t>
          </a:r>
        </a:p>
      </dgm:t>
    </dgm:pt>
    <dgm:pt modelId="{2EE0B6F5-6A8E-418F-9567-1907B2738A34}" type="parTrans" cxnId="{BC96F6EE-A452-4FD1-957C-3C61D63DF19A}">
      <dgm:prSet/>
      <dgm:spPr/>
      <dgm:t>
        <a:bodyPr/>
        <a:lstStyle/>
        <a:p>
          <a:endParaRPr lang="en-US"/>
        </a:p>
      </dgm:t>
    </dgm:pt>
    <dgm:pt modelId="{E09FC7D4-5B56-4C5F-893B-848769202938}" type="sibTrans" cxnId="{BC96F6EE-A452-4FD1-957C-3C61D63DF19A}">
      <dgm:prSet/>
      <dgm:spPr/>
      <dgm:t>
        <a:bodyPr/>
        <a:lstStyle/>
        <a:p>
          <a:endParaRPr lang="en-US"/>
        </a:p>
      </dgm:t>
    </dgm:pt>
    <dgm:pt modelId="{7A818774-F187-423D-B8A8-E299CC61C89C}">
      <dgm:prSet phldrT="[Text]" phldr="0"/>
      <dgm:spPr>
        <a:ln>
          <a:solidFill>
            <a:schemeClr val="bg1">
              <a:lumMod val="50000"/>
            </a:schemeClr>
          </a:solidFill>
        </a:ln>
      </dgm:spPr>
      <dgm:t>
        <a:bodyPr/>
        <a:lstStyle/>
        <a:p>
          <a:r>
            <a:rPr lang="en-US" dirty="0"/>
            <a:t>Practical corporate training</a:t>
          </a:r>
        </a:p>
      </dgm:t>
    </dgm:pt>
    <dgm:pt modelId="{C7A141B3-2B9C-4F4D-9D07-5F119890BE56}" type="parTrans" cxnId="{E39F6071-D189-4302-81C2-C8D5AD0A841D}">
      <dgm:prSet/>
      <dgm:spPr/>
      <dgm:t>
        <a:bodyPr/>
        <a:lstStyle/>
        <a:p>
          <a:endParaRPr lang="en-US"/>
        </a:p>
      </dgm:t>
    </dgm:pt>
    <dgm:pt modelId="{BF1D4A6B-4EBA-4D46-93B3-07C66BF920A8}" type="sibTrans" cxnId="{E39F6071-D189-4302-81C2-C8D5AD0A841D}">
      <dgm:prSet/>
      <dgm:spPr/>
      <dgm:t>
        <a:bodyPr/>
        <a:lstStyle/>
        <a:p>
          <a:endParaRPr lang="en-US"/>
        </a:p>
      </dgm:t>
    </dgm:pt>
    <dgm:pt modelId="{CED61807-9E1D-41DC-A0C2-C410C92668D0}">
      <dgm:prSet phldrT="[Text]" phldr="0"/>
      <dgm:spPr>
        <a:ln>
          <a:solidFill>
            <a:schemeClr val="bg1">
              <a:lumMod val="50000"/>
            </a:schemeClr>
          </a:solidFill>
        </a:ln>
      </dgm:spPr>
      <dgm:t>
        <a:bodyPr/>
        <a:lstStyle/>
        <a:p>
          <a:r>
            <a:rPr lang="en-US" dirty="0"/>
            <a:t>Apply modern Excel patterns to real workflows</a:t>
          </a:r>
        </a:p>
      </dgm:t>
    </dgm:pt>
    <dgm:pt modelId="{DF6760EA-CD03-4B40-8B21-BE7EBE5C8B51}" type="parTrans" cxnId="{D544EC0C-557D-4137-BBE5-D7047405AD61}">
      <dgm:prSet/>
      <dgm:spPr/>
      <dgm:t>
        <a:bodyPr/>
        <a:lstStyle/>
        <a:p>
          <a:endParaRPr lang="en-US"/>
        </a:p>
      </dgm:t>
    </dgm:pt>
    <dgm:pt modelId="{56F627CE-8FDB-492D-9146-C96F55B7E1C0}" type="sibTrans" cxnId="{D544EC0C-557D-4137-BBE5-D7047405AD61}">
      <dgm:prSet/>
      <dgm:spPr/>
      <dgm:t>
        <a:bodyPr/>
        <a:lstStyle/>
        <a:p>
          <a:endParaRPr lang="en-US"/>
        </a:p>
      </dgm:t>
    </dgm:pt>
    <dgm:pt modelId="{A47EFBC1-B8C2-4EA5-9B3A-F927674761C9}">
      <dgm:prSet phldrT="[Text]" phldr="0"/>
      <dgm:spPr>
        <a:ln>
          <a:solidFill>
            <a:schemeClr val="bg1">
              <a:lumMod val="50000"/>
            </a:schemeClr>
          </a:solidFill>
        </a:ln>
      </dgm:spPr>
      <dgm:t>
        <a:bodyPr/>
        <a:lstStyle/>
        <a:p>
          <a:r>
            <a:rPr lang="en-US" dirty="0"/>
            <a:t>Reduce errors, rework, and one-off fixes</a:t>
          </a:r>
        </a:p>
      </dgm:t>
    </dgm:pt>
    <dgm:pt modelId="{23C95D64-ACDF-4793-AF7E-ADB56BE2841D}" type="parTrans" cxnId="{1C3620EC-CE2A-437B-813B-D62505EEF778}">
      <dgm:prSet/>
      <dgm:spPr/>
      <dgm:t>
        <a:bodyPr/>
        <a:lstStyle/>
        <a:p>
          <a:endParaRPr lang="en-US"/>
        </a:p>
      </dgm:t>
    </dgm:pt>
    <dgm:pt modelId="{98F84862-E132-4EA1-89ED-AC172F965CF6}" type="sibTrans" cxnId="{1C3620EC-CE2A-437B-813B-D62505EEF778}">
      <dgm:prSet/>
      <dgm:spPr/>
      <dgm:t>
        <a:bodyPr/>
        <a:lstStyle/>
        <a:p>
          <a:endParaRPr lang="en-US"/>
        </a:p>
      </dgm:t>
    </dgm:pt>
    <dgm:pt modelId="{B4F0F40E-29C9-496D-BDA2-525B7864A476}">
      <dgm:prSet phldrT="[Text]" phldr="0"/>
      <dgm:spPr>
        <a:solidFill>
          <a:srgbClr val="C00000"/>
        </a:solidFill>
      </dgm:spPr>
      <dgm:t>
        <a:bodyPr/>
        <a:lstStyle/>
        <a:p>
          <a:r>
            <a:rPr lang="en-US" b="1" dirty="0"/>
            <a:t>Organizations</a:t>
          </a:r>
        </a:p>
      </dgm:t>
    </dgm:pt>
    <dgm:pt modelId="{85C43083-FDDC-4EB5-8CA2-AF1A2A539AE5}" type="parTrans" cxnId="{F5A0ED73-185C-43A4-B087-39723A0B16D0}">
      <dgm:prSet/>
      <dgm:spPr/>
      <dgm:t>
        <a:bodyPr/>
        <a:lstStyle/>
        <a:p>
          <a:endParaRPr lang="en-US"/>
        </a:p>
      </dgm:t>
    </dgm:pt>
    <dgm:pt modelId="{C9BD2B50-714A-4AF3-9879-8E0D2682421F}" type="sibTrans" cxnId="{F5A0ED73-185C-43A4-B087-39723A0B16D0}">
      <dgm:prSet/>
      <dgm:spPr/>
      <dgm:t>
        <a:bodyPr/>
        <a:lstStyle/>
        <a:p>
          <a:endParaRPr lang="en-US"/>
        </a:p>
      </dgm:t>
    </dgm:pt>
    <dgm:pt modelId="{CEF1FAE8-58A8-4837-8EE2-2DD9C2A199A3}">
      <dgm:prSet phldrT="[Text]" phldr="0"/>
      <dgm:spPr>
        <a:ln>
          <a:solidFill>
            <a:schemeClr val="bg1">
              <a:lumMod val="50000"/>
            </a:schemeClr>
          </a:solidFill>
        </a:ln>
      </dgm:spPr>
      <dgm:t>
        <a:bodyPr/>
        <a:lstStyle/>
        <a:p>
          <a:r>
            <a:rPr lang="en-US" dirty="0"/>
            <a:t>Guided, multi-week modernization program</a:t>
          </a:r>
        </a:p>
      </dgm:t>
    </dgm:pt>
    <dgm:pt modelId="{58151A2E-80AA-4AD6-A185-C0F5E8DA47AD}" type="parTrans" cxnId="{B62C6E92-AB91-468B-B358-EDF92131A7AF}">
      <dgm:prSet/>
      <dgm:spPr/>
      <dgm:t>
        <a:bodyPr/>
        <a:lstStyle/>
        <a:p>
          <a:endParaRPr lang="en-US"/>
        </a:p>
      </dgm:t>
    </dgm:pt>
    <dgm:pt modelId="{CBE4C6D7-AAFF-485C-A9FE-75A1ADEB00AD}" type="sibTrans" cxnId="{B62C6E92-AB91-468B-B358-EDF92131A7AF}">
      <dgm:prSet/>
      <dgm:spPr/>
      <dgm:t>
        <a:bodyPr/>
        <a:lstStyle/>
        <a:p>
          <a:endParaRPr lang="en-US"/>
        </a:p>
      </dgm:t>
    </dgm:pt>
    <dgm:pt modelId="{49A0E634-58A5-4059-9E7D-9503F5568F0E}">
      <dgm:prSet phldrT="[Text]" phldr="0"/>
      <dgm:spPr>
        <a:ln>
          <a:solidFill>
            <a:schemeClr val="bg1">
              <a:lumMod val="50000"/>
            </a:schemeClr>
          </a:solidFill>
        </a:ln>
      </dgm:spPr>
      <dgm:t>
        <a:bodyPr/>
        <a:lstStyle/>
        <a:p>
          <a:r>
            <a:rPr lang="en-US" dirty="0"/>
            <a:t>Teams learn to build pipelines, automation, and documentation</a:t>
          </a:r>
        </a:p>
      </dgm:t>
    </dgm:pt>
    <dgm:pt modelId="{ACD5A1DA-F5CD-48CE-B171-EC32505DF8B8}" type="parTrans" cxnId="{529891CA-70A8-4B23-B19B-BE2328CC8E28}">
      <dgm:prSet/>
      <dgm:spPr/>
      <dgm:t>
        <a:bodyPr/>
        <a:lstStyle/>
        <a:p>
          <a:endParaRPr lang="en-US"/>
        </a:p>
      </dgm:t>
    </dgm:pt>
    <dgm:pt modelId="{6ACADE56-6832-41F1-9403-24B505942BF3}" type="sibTrans" cxnId="{529891CA-70A8-4B23-B19B-BE2328CC8E28}">
      <dgm:prSet/>
      <dgm:spPr/>
      <dgm:t>
        <a:bodyPr/>
        <a:lstStyle/>
        <a:p>
          <a:endParaRPr lang="en-US"/>
        </a:p>
      </dgm:t>
    </dgm:pt>
    <dgm:pt modelId="{FB981EA0-3DDD-41E5-994C-58106823DD87}">
      <dgm:prSet phldrT="[Text]" phldr="0"/>
      <dgm:spPr>
        <a:ln>
          <a:solidFill>
            <a:schemeClr val="bg1">
              <a:lumMod val="50000"/>
            </a:schemeClr>
          </a:solidFill>
        </a:ln>
      </dgm:spPr>
      <dgm:t>
        <a:bodyPr/>
        <a:lstStyle/>
        <a:p>
          <a:r>
            <a:rPr lang="en-US" dirty="0"/>
            <a:t>Internal ownership of reliable, </a:t>
          </a:r>
          <a:r>
            <a:rPr lang="en-US"/>
            <a:t>auditable workflows</a:t>
          </a:r>
          <a:endParaRPr lang="en-US" dirty="0"/>
        </a:p>
      </dgm:t>
    </dgm:pt>
    <dgm:pt modelId="{F3950239-A916-4097-A7B6-DDA6653C9CB5}" type="parTrans" cxnId="{862989A2-6D7C-42A4-A92A-2FD429FB0840}">
      <dgm:prSet/>
      <dgm:spPr/>
      <dgm:t>
        <a:bodyPr/>
        <a:lstStyle/>
        <a:p>
          <a:endParaRPr lang="en-US"/>
        </a:p>
      </dgm:t>
    </dgm:pt>
    <dgm:pt modelId="{63E1678F-6B99-4762-B916-5E63C98E7666}" type="sibTrans" cxnId="{862989A2-6D7C-42A4-A92A-2FD429FB0840}">
      <dgm:prSet/>
      <dgm:spPr/>
      <dgm:t>
        <a:bodyPr/>
        <a:lstStyle/>
        <a:p>
          <a:endParaRPr lang="en-US"/>
        </a:p>
      </dgm:t>
    </dgm:pt>
    <dgm:pt modelId="{CAD0188A-56FC-4EB6-B5CE-816C1D97209B}" type="pres">
      <dgm:prSet presAssocID="{68798DD1-6FC4-4C34-9F3F-53BBEB998853}" presName="linearFlow" presStyleCnt="0">
        <dgm:presLayoutVars>
          <dgm:dir/>
          <dgm:animLvl val="lvl"/>
          <dgm:resizeHandles val="exact"/>
        </dgm:presLayoutVars>
      </dgm:prSet>
      <dgm:spPr/>
    </dgm:pt>
    <dgm:pt modelId="{396FF615-DBB1-4ADF-881C-2B53DB4685F9}" type="pres">
      <dgm:prSet presAssocID="{21FE27EC-10F4-47A1-8FD5-CD3496F54607}" presName="composite" presStyleCnt="0"/>
      <dgm:spPr/>
    </dgm:pt>
    <dgm:pt modelId="{09C26579-FE7E-4FCA-AD7A-C9F14DC9A41C}" type="pres">
      <dgm:prSet presAssocID="{21FE27EC-10F4-47A1-8FD5-CD3496F54607}" presName="parentText" presStyleLbl="alignNode1" presStyleIdx="0" presStyleCnt="3">
        <dgm:presLayoutVars>
          <dgm:chMax val="1"/>
          <dgm:bulletEnabled val="1"/>
        </dgm:presLayoutVars>
      </dgm:prSet>
      <dgm:spPr/>
    </dgm:pt>
    <dgm:pt modelId="{3F6A9F3A-70DD-47A1-BAF1-6047BA10BEF8}" type="pres">
      <dgm:prSet presAssocID="{21FE27EC-10F4-47A1-8FD5-CD3496F54607}" presName="descendantText" presStyleLbl="alignAcc1" presStyleIdx="0" presStyleCnt="3">
        <dgm:presLayoutVars>
          <dgm:bulletEnabled val="1"/>
        </dgm:presLayoutVars>
      </dgm:prSet>
      <dgm:spPr/>
    </dgm:pt>
    <dgm:pt modelId="{3EBAEAF0-87C5-4A8F-A60B-5164C3139ED0}" type="pres">
      <dgm:prSet presAssocID="{969895C4-5161-439F-BA5B-C7930ADA9517}" presName="sp" presStyleCnt="0"/>
      <dgm:spPr/>
    </dgm:pt>
    <dgm:pt modelId="{18A31272-9A53-4608-B75D-8841D31598E9}" type="pres">
      <dgm:prSet presAssocID="{016DC79D-3BC0-41E5-8BCD-63EBA4F14C0D}" presName="composite" presStyleCnt="0"/>
      <dgm:spPr/>
    </dgm:pt>
    <dgm:pt modelId="{94386F4B-5B07-46D9-B7E2-E761F0E5054B}" type="pres">
      <dgm:prSet presAssocID="{016DC79D-3BC0-41E5-8BCD-63EBA4F14C0D}" presName="parentText" presStyleLbl="alignNode1" presStyleIdx="1" presStyleCnt="3">
        <dgm:presLayoutVars>
          <dgm:chMax val="1"/>
          <dgm:bulletEnabled val="1"/>
        </dgm:presLayoutVars>
      </dgm:prSet>
      <dgm:spPr/>
    </dgm:pt>
    <dgm:pt modelId="{E1F63806-3F95-47B1-A8FC-936CE11E41B2}" type="pres">
      <dgm:prSet presAssocID="{016DC79D-3BC0-41E5-8BCD-63EBA4F14C0D}" presName="descendantText" presStyleLbl="alignAcc1" presStyleIdx="1" presStyleCnt="3">
        <dgm:presLayoutVars>
          <dgm:bulletEnabled val="1"/>
        </dgm:presLayoutVars>
      </dgm:prSet>
      <dgm:spPr/>
    </dgm:pt>
    <dgm:pt modelId="{08C09676-E15B-414E-ADE9-4CFD21277716}" type="pres">
      <dgm:prSet presAssocID="{E09FC7D4-5B56-4C5F-893B-848769202938}" presName="sp" presStyleCnt="0"/>
      <dgm:spPr/>
    </dgm:pt>
    <dgm:pt modelId="{C4801975-71F4-48D1-B902-ED5AA41607FE}" type="pres">
      <dgm:prSet presAssocID="{B4F0F40E-29C9-496D-BDA2-525B7864A476}" presName="composite" presStyleCnt="0"/>
      <dgm:spPr/>
    </dgm:pt>
    <dgm:pt modelId="{6686DA01-4710-4887-9ED3-F851DFA90AFC}" type="pres">
      <dgm:prSet presAssocID="{B4F0F40E-29C9-496D-BDA2-525B7864A476}" presName="parentText" presStyleLbl="alignNode1" presStyleIdx="2" presStyleCnt="3">
        <dgm:presLayoutVars>
          <dgm:chMax val="1"/>
          <dgm:bulletEnabled val="1"/>
        </dgm:presLayoutVars>
      </dgm:prSet>
      <dgm:spPr/>
    </dgm:pt>
    <dgm:pt modelId="{5B4E17BA-CB83-4086-AB9F-98D828E680FB}" type="pres">
      <dgm:prSet presAssocID="{B4F0F40E-29C9-496D-BDA2-525B7864A476}" presName="descendantText" presStyleLbl="alignAcc1" presStyleIdx="2" presStyleCnt="3">
        <dgm:presLayoutVars>
          <dgm:bulletEnabled val="1"/>
        </dgm:presLayoutVars>
      </dgm:prSet>
      <dgm:spPr/>
    </dgm:pt>
  </dgm:ptLst>
  <dgm:cxnLst>
    <dgm:cxn modelId="{92F1CA01-19A0-4F78-A4B8-D4B4230230A6}" type="presOf" srcId="{7A818774-F187-423D-B8A8-E299CC61C89C}" destId="{E1F63806-3F95-47B1-A8FC-936CE11E41B2}" srcOrd="0" destOrd="0" presId="urn:microsoft.com/office/officeart/2005/8/layout/chevron2"/>
    <dgm:cxn modelId="{2B9F7502-FA00-4776-91FC-DCE24DE2717C}" type="presOf" srcId="{31E0BBA0-32AB-44DE-85CB-3C80E6846810}" destId="{3F6A9F3A-70DD-47A1-BAF1-6047BA10BEF8}" srcOrd="0" destOrd="2" presId="urn:microsoft.com/office/officeart/2005/8/layout/chevron2"/>
    <dgm:cxn modelId="{6C6CBB06-B18A-42AC-8E9C-1FECB4298C8E}" srcId="{21FE27EC-10F4-47A1-8FD5-CD3496F54607}" destId="{C24B2941-8C4E-47E5-93BE-9390D2CDBC89}" srcOrd="0" destOrd="0" parTransId="{C97A6C3A-9B27-45E4-8D96-A0B3EE805D38}" sibTransId="{95B33339-D74D-43E7-BBDD-70E0EB607FD8}"/>
    <dgm:cxn modelId="{D544EC0C-557D-4137-BBE5-D7047405AD61}" srcId="{016DC79D-3BC0-41E5-8BCD-63EBA4F14C0D}" destId="{CED61807-9E1D-41DC-A0C2-C410C92668D0}" srcOrd="1" destOrd="0" parTransId="{DF6760EA-CD03-4B40-8B21-BE7EBE5C8B51}" sibTransId="{56F627CE-8FDB-492D-9146-C96F55B7E1C0}"/>
    <dgm:cxn modelId="{F861C337-2A07-4392-BB25-C7074FC35D3A}" type="presOf" srcId="{CED61807-9E1D-41DC-A0C2-C410C92668D0}" destId="{E1F63806-3F95-47B1-A8FC-936CE11E41B2}" srcOrd="0" destOrd="1" presId="urn:microsoft.com/office/officeart/2005/8/layout/chevron2"/>
    <dgm:cxn modelId="{08744D63-46D0-44D2-900A-8851AAD8CEA3}" srcId="{21FE27EC-10F4-47A1-8FD5-CD3496F54607}" destId="{B4C039DB-28DF-4F2E-9047-FCE10E8B50F4}" srcOrd="1" destOrd="0" parTransId="{88E2D7DD-A20A-4D82-B7BA-495E3CA5520E}" sibTransId="{EFC160FF-009E-419D-9011-2FCCED5BFCAE}"/>
    <dgm:cxn modelId="{7D3C6765-2503-464F-8915-4219C7FFA67E}" type="presOf" srcId="{B4C039DB-28DF-4F2E-9047-FCE10E8B50F4}" destId="{3F6A9F3A-70DD-47A1-BAF1-6047BA10BEF8}" srcOrd="0" destOrd="1" presId="urn:microsoft.com/office/officeart/2005/8/layout/chevron2"/>
    <dgm:cxn modelId="{C27A3E67-85B3-441D-954E-43FBB720893C}" type="presOf" srcId="{49A0E634-58A5-4059-9E7D-9503F5568F0E}" destId="{5B4E17BA-CB83-4086-AB9F-98D828E680FB}" srcOrd="0" destOrd="1" presId="urn:microsoft.com/office/officeart/2005/8/layout/chevron2"/>
    <dgm:cxn modelId="{72F5A847-4C7B-47C0-A9E1-518AC505C169}" type="presOf" srcId="{68798DD1-6FC4-4C34-9F3F-53BBEB998853}" destId="{CAD0188A-56FC-4EB6-B5CE-816C1D97209B}" srcOrd="0" destOrd="0" presId="urn:microsoft.com/office/officeart/2005/8/layout/chevron2"/>
    <dgm:cxn modelId="{061FAD70-44EC-4FA6-98DF-B43035022CDD}" type="presOf" srcId="{A47EFBC1-B8C2-4EA5-9B3A-F927674761C9}" destId="{E1F63806-3F95-47B1-A8FC-936CE11E41B2}" srcOrd="0" destOrd="2" presId="urn:microsoft.com/office/officeart/2005/8/layout/chevron2"/>
    <dgm:cxn modelId="{9453C970-A133-42A1-BB1A-7672CEFA0687}" srcId="{21FE27EC-10F4-47A1-8FD5-CD3496F54607}" destId="{31E0BBA0-32AB-44DE-85CB-3C80E6846810}" srcOrd="2" destOrd="0" parTransId="{BDE34EB0-9E1B-4FF4-9FC7-70742D76E4E6}" sibTransId="{45E94802-E21A-4AC8-ACCB-FA38B41DCB9F}"/>
    <dgm:cxn modelId="{E39F6071-D189-4302-81C2-C8D5AD0A841D}" srcId="{016DC79D-3BC0-41E5-8BCD-63EBA4F14C0D}" destId="{7A818774-F187-423D-B8A8-E299CC61C89C}" srcOrd="0" destOrd="0" parTransId="{C7A141B3-2B9C-4F4D-9D07-5F119890BE56}" sibTransId="{BF1D4A6B-4EBA-4D46-93B3-07C66BF920A8}"/>
    <dgm:cxn modelId="{F5A0ED73-185C-43A4-B087-39723A0B16D0}" srcId="{68798DD1-6FC4-4C34-9F3F-53BBEB998853}" destId="{B4F0F40E-29C9-496D-BDA2-525B7864A476}" srcOrd="2" destOrd="0" parTransId="{85C43083-FDDC-4EB5-8CA2-AF1A2A539AE5}" sibTransId="{C9BD2B50-714A-4AF3-9879-8E0D2682421F}"/>
    <dgm:cxn modelId="{19E0D479-A15D-4862-AFB6-01537DAB1029}" type="presOf" srcId="{016DC79D-3BC0-41E5-8BCD-63EBA4F14C0D}" destId="{94386F4B-5B07-46D9-B7E2-E761F0E5054B}" srcOrd="0" destOrd="0" presId="urn:microsoft.com/office/officeart/2005/8/layout/chevron2"/>
    <dgm:cxn modelId="{AD3BFA8E-5D82-48E4-B9AD-318B305BF8CB}" type="presOf" srcId="{FB981EA0-3DDD-41E5-994C-58106823DD87}" destId="{5B4E17BA-CB83-4086-AB9F-98D828E680FB}" srcOrd="0" destOrd="2" presId="urn:microsoft.com/office/officeart/2005/8/layout/chevron2"/>
    <dgm:cxn modelId="{B62C6E92-AB91-468B-B358-EDF92131A7AF}" srcId="{B4F0F40E-29C9-496D-BDA2-525B7864A476}" destId="{CEF1FAE8-58A8-4837-8EE2-2DD9C2A199A3}" srcOrd="0" destOrd="0" parTransId="{58151A2E-80AA-4AD6-A185-C0F5E8DA47AD}" sibTransId="{CBE4C6D7-AAFF-485C-A9FE-75A1ADEB00AD}"/>
    <dgm:cxn modelId="{8228239C-D034-41ED-AF1F-44B9D40545C6}" type="presOf" srcId="{B4F0F40E-29C9-496D-BDA2-525B7864A476}" destId="{6686DA01-4710-4887-9ED3-F851DFA90AFC}" srcOrd="0" destOrd="0" presId="urn:microsoft.com/office/officeart/2005/8/layout/chevron2"/>
    <dgm:cxn modelId="{B1127C9E-9D3C-4AAD-80DF-F94D479995DA}" type="presOf" srcId="{C24B2941-8C4E-47E5-93BE-9390D2CDBC89}" destId="{3F6A9F3A-70DD-47A1-BAF1-6047BA10BEF8}" srcOrd="0" destOrd="0" presId="urn:microsoft.com/office/officeart/2005/8/layout/chevron2"/>
    <dgm:cxn modelId="{4BA45AA0-961A-4D1B-A3F6-BB5A22DE0A36}" type="presOf" srcId="{21FE27EC-10F4-47A1-8FD5-CD3496F54607}" destId="{09C26579-FE7E-4FCA-AD7A-C9F14DC9A41C}" srcOrd="0" destOrd="0" presId="urn:microsoft.com/office/officeart/2005/8/layout/chevron2"/>
    <dgm:cxn modelId="{862989A2-6D7C-42A4-A92A-2FD429FB0840}" srcId="{B4F0F40E-29C9-496D-BDA2-525B7864A476}" destId="{FB981EA0-3DDD-41E5-994C-58106823DD87}" srcOrd="2" destOrd="0" parTransId="{F3950239-A916-4097-A7B6-DDA6653C9CB5}" sibTransId="{63E1678F-6B99-4762-B916-5E63C98E7666}"/>
    <dgm:cxn modelId="{277C8FA6-6B12-4298-833C-34A046A9226D}" type="presOf" srcId="{CEF1FAE8-58A8-4837-8EE2-2DD9C2A199A3}" destId="{5B4E17BA-CB83-4086-AB9F-98D828E680FB}" srcOrd="0" destOrd="0" presId="urn:microsoft.com/office/officeart/2005/8/layout/chevron2"/>
    <dgm:cxn modelId="{529891CA-70A8-4B23-B19B-BE2328CC8E28}" srcId="{B4F0F40E-29C9-496D-BDA2-525B7864A476}" destId="{49A0E634-58A5-4059-9E7D-9503F5568F0E}" srcOrd="1" destOrd="0" parTransId="{ACD5A1DA-F5CD-48CE-B171-EC32505DF8B8}" sibTransId="{6ACADE56-6832-41F1-9403-24B505942BF3}"/>
    <dgm:cxn modelId="{6C0172DF-D88B-41D4-B3F5-CA15E159222B}" srcId="{68798DD1-6FC4-4C34-9F3F-53BBEB998853}" destId="{21FE27EC-10F4-47A1-8FD5-CD3496F54607}" srcOrd="0" destOrd="0" parTransId="{FF3D7B0C-E2C4-49B8-8C4B-AF120BF1E2B9}" sibTransId="{969895C4-5161-439F-BA5B-C7930ADA9517}"/>
    <dgm:cxn modelId="{1C3620EC-CE2A-437B-813B-D62505EEF778}" srcId="{016DC79D-3BC0-41E5-8BCD-63EBA4F14C0D}" destId="{A47EFBC1-B8C2-4EA5-9B3A-F927674761C9}" srcOrd="2" destOrd="0" parTransId="{23C95D64-ACDF-4793-AF7E-ADB56BE2841D}" sibTransId="{98F84862-E132-4EA1-89ED-AC172F965CF6}"/>
    <dgm:cxn modelId="{BC96F6EE-A452-4FD1-957C-3C61D63DF19A}" srcId="{68798DD1-6FC4-4C34-9F3F-53BBEB998853}" destId="{016DC79D-3BC0-41E5-8BCD-63EBA4F14C0D}" srcOrd="1" destOrd="0" parTransId="{2EE0B6F5-6A8E-418F-9567-1907B2738A34}" sibTransId="{E09FC7D4-5B56-4C5F-893B-848769202938}"/>
    <dgm:cxn modelId="{8F7B8CF4-1AD3-437F-943B-15C6B8A43061}" type="presParOf" srcId="{CAD0188A-56FC-4EB6-B5CE-816C1D97209B}" destId="{396FF615-DBB1-4ADF-881C-2B53DB4685F9}" srcOrd="0" destOrd="0" presId="urn:microsoft.com/office/officeart/2005/8/layout/chevron2"/>
    <dgm:cxn modelId="{A905407B-1A3A-4C4F-94A3-72D810F50497}" type="presParOf" srcId="{396FF615-DBB1-4ADF-881C-2B53DB4685F9}" destId="{09C26579-FE7E-4FCA-AD7A-C9F14DC9A41C}" srcOrd="0" destOrd="0" presId="urn:microsoft.com/office/officeart/2005/8/layout/chevron2"/>
    <dgm:cxn modelId="{FD22B06B-837D-461D-90DF-5093D7EDBD71}" type="presParOf" srcId="{396FF615-DBB1-4ADF-881C-2B53DB4685F9}" destId="{3F6A9F3A-70DD-47A1-BAF1-6047BA10BEF8}" srcOrd="1" destOrd="0" presId="urn:microsoft.com/office/officeart/2005/8/layout/chevron2"/>
    <dgm:cxn modelId="{EA8A4336-7389-4C30-8110-DAB2C1C21C0D}" type="presParOf" srcId="{CAD0188A-56FC-4EB6-B5CE-816C1D97209B}" destId="{3EBAEAF0-87C5-4A8F-A60B-5164C3139ED0}" srcOrd="1" destOrd="0" presId="urn:microsoft.com/office/officeart/2005/8/layout/chevron2"/>
    <dgm:cxn modelId="{8C3399FB-03D1-42FB-9F72-2D7B16B0B99C}" type="presParOf" srcId="{CAD0188A-56FC-4EB6-B5CE-816C1D97209B}" destId="{18A31272-9A53-4608-B75D-8841D31598E9}" srcOrd="2" destOrd="0" presId="urn:microsoft.com/office/officeart/2005/8/layout/chevron2"/>
    <dgm:cxn modelId="{0638D5CA-D355-474F-B10D-C8495E5251C1}" type="presParOf" srcId="{18A31272-9A53-4608-B75D-8841D31598E9}" destId="{94386F4B-5B07-46D9-B7E2-E761F0E5054B}" srcOrd="0" destOrd="0" presId="urn:microsoft.com/office/officeart/2005/8/layout/chevron2"/>
    <dgm:cxn modelId="{E557CDAE-CAC8-4B57-A151-C05291D75607}" type="presParOf" srcId="{18A31272-9A53-4608-B75D-8841D31598E9}" destId="{E1F63806-3F95-47B1-A8FC-936CE11E41B2}" srcOrd="1" destOrd="0" presId="urn:microsoft.com/office/officeart/2005/8/layout/chevron2"/>
    <dgm:cxn modelId="{E126AC08-CC93-4BC4-8D81-C096DE23E2B9}" type="presParOf" srcId="{CAD0188A-56FC-4EB6-B5CE-816C1D97209B}" destId="{08C09676-E15B-414E-ADE9-4CFD21277716}" srcOrd="3" destOrd="0" presId="urn:microsoft.com/office/officeart/2005/8/layout/chevron2"/>
    <dgm:cxn modelId="{4B1D40FC-B1C2-453A-8607-302FF2BC833D}" type="presParOf" srcId="{CAD0188A-56FC-4EB6-B5CE-816C1D97209B}" destId="{C4801975-71F4-48D1-B902-ED5AA41607FE}" srcOrd="4" destOrd="0" presId="urn:microsoft.com/office/officeart/2005/8/layout/chevron2"/>
    <dgm:cxn modelId="{ACA736AB-5FFF-45DB-B3E4-E228D3373A70}" type="presParOf" srcId="{C4801975-71F4-48D1-B902-ED5AA41607FE}" destId="{6686DA01-4710-4887-9ED3-F851DFA90AFC}" srcOrd="0" destOrd="0" presId="urn:microsoft.com/office/officeart/2005/8/layout/chevron2"/>
    <dgm:cxn modelId="{62960D37-07F8-4C07-8FAC-939964988643}" type="presParOf" srcId="{C4801975-71F4-48D1-B902-ED5AA41607FE}" destId="{5B4E17BA-CB83-4086-AB9F-98D828E680FB}" srcOrd="1" destOrd="0" presId="urn:microsoft.com/office/officeart/2005/8/layout/chevron2"/>
  </dgm:cxnLst>
  <dgm:bg/>
  <dgm:whole>
    <a:ln>
      <a:solidFill>
        <a:schemeClr val="bg1">
          <a:lumMod val="50000"/>
        </a:schemeClr>
      </a:solidFill>
    </a:ln>
  </dgm:whole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93E082B-C5F8-4195-ADEE-E56F18CBAED7}">
      <dsp:nvSpPr>
        <dsp:cNvPr id="0" name=""/>
        <dsp:cNvSpPr/>
      </dsp:nvSpPr>
      <dsp:spPr>
        <a:xfrm>
          <a:off x="3581400" y="0"/>
          <a:ext cx="8534400" cy="8534400"/>
        </a:xfrm>
        <a:prstGeom prst="quadArrow">
          <a:avLst>
            <a:gd name="adj1" fmla="val 2000"/>
            <a:gd name="adj2" fmla="val 4000"/>
            <a:gd name="adj3" fmla="val 5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4D717D4-E5B6-4C42-A541-FBF628E1E9AE}">
      <dsp:nvSpPr>
        <dsp:cNvPr id="0" name=""/>
        <dsp:cNvSpPr/>
      </dsp:nvSpPr>
      <dsp:spPr>
        <a:xfrm>
          <a:off x="4136136" y="554736"/>
          <a:ext cx="3413760" cy="3413760"/>
        </a:xfrm>
        <a:prstGeom prst="roundRect">
          <a:avLst/>
        </a:prstGeom>
        <a:solidFill>
          <a:srgbClr val="CF3338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7640" tIns="167640" rIns="167640" bIns="16764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400" kern="1200" dirty="0"/>
            <a:t>Repeatable reporting</a:t>
          </a:r>
        </a:p>
      </dsp:txBody>
      <dsp:txXfrm>
        <a:off x="4302782" y="721382"/>
        <a:ext cx="3080468" cy="3080468"/>
      </dsp:txXfrm>
    </dsp:sp>
    <dsp:sp modelId="{C170CAE2-B353-4B39-9F29-53896209F55E}">
      <dsp:nvSpPr>
        <dsp:cNvPr id="0" name=""/>
        <dsp:cNvSpPr/>
      </dsp:nvSpPr>
      <dsp:spPr>
        <a:xfrm>
          <a:off x="8147304" y="554736"/>
          <a:ext cx="3413760" cy="3413760"/>
        </a:xfrm>
        <a:prstGeom prst="roundRect">
          <a:avLst/>
        </a:prstGeom>
        <a:solidFill>
          <a:srgbClr val="CF3338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 dirty="0"/>
            <a:t>Competing needs</a:t>
          </a:r>
        </a:p>
      </dsp:txBody>
      <dsp:txXfrm>
        <a:off x="8313950" y="721382"/>
        <a:ext cx="3080468" cy="3080468"/>
      </dsp:txXfrm>
    </dsp:sp>
    <dsp:sp modelId="{F1142FEF-1964-4950-95FA-888CA15C59AC}">
      <dsp:nvSpPr>
        <dsp:cNvPr id="0" name=""/>
        <dsp:cNvSpPr/>
      </dsp:nvSpPr>
      <dsp:spPr>
        <a:xfrm>
          <a:off x="4136136" y="4565904"/>
          <a:ext cx="3413760" cy="3413760"/>
        </a:xfrm>
        <a:prstGeom prst="roundRect">
          <a:avLst/>
        </a:prstGeom>
        <a:solidFill>
          <a:srgbClr val="CF3338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 dirty="0"/>
            <a:t>Personal analysis &amp; quick checks</a:t>
          </a:r>
        </a:p>
      </dsp:txBody>
      <dsp:txXfrm>
        <a:off x="4302782" y="4732550"/>
        <a:ext cx="3080468" cy="3080468"/>
      </dsp:txXfrm>
    </dsp:sp>
    <dsp:sp modelId="{D1C06DA0-5B46-407A-B1E4-1C281173DF4F}">
      <dsp:nvSpPr>
        <dsp:cNvPr id="0" name=""/>
        <dsp:cNvSpPr/>
      </dsp:nvSpPr>
      <dsp:spPr>
        <a:xfrm>
          <a:off x="8147304" y="4565904"/>
          <a:ext cx="3413760" cy="3413760"/>
        </a:xfrm>
        <a:prstGeom prst="roundRect">
          <a:avLst/>
        </a:prstGeom>
        <a:solidFill>
          <a:srgbClr val="CF3338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7640" tIns="167640" rIns="167640" bIns="16764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400" kern="1200" dirty="0"/>
            <a:t>Exploration, scenarios, and “What if”</a:t>
          </a:r>
        </a:p>
      </dsp:txBody>
      <dsp:txXfrm>
        <a:off x="8313950" y="4732550"/>
        <a:ext cx="3080468" cy="308046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9C26579-FE7E-4FCA-AD7A-C9F14DC9A41C}">
      <dsp:nvSpPr>
        <dsp:cNvPr id="0" name=""/>
        <dsp:cNvSpPr/>
      </dsp:nvSpPr>
      <dsp:spPr>
        <a:xfrm rot="5400000">
          <a:off x="-391385" y="391511"/>
          <a:ext cx="2609234" cy="1826464"/>
        </a:xfrm>
        <a:prstGeom prst="chevron">
          <a:avLst/>
        </a:prstGeom>
        <a:solidFill>
          <a:srgbClr val="C00000"/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dirty="0"/>
            <a:t>Individuals</a:t>
          </a:r>
        </a:p>
      </dsp:txBody>
      <dsp:txXfrm rot="-5400000">
        <a:off x="0" y="913358"/>
        <a:ext cx="1826464" cy="782770"/>
      </dsp:txXfrm>
    </dsp:sp>
    <dsp:sp modelId="{3F6A9F3A-70DD-47A1-BAF1-6047BA10BEF8}">
      <dsp:nvSpPr>
        <dsp:cNvPr id="0" name=""/>
        <dsp:cNvSpPr/>
      </dsp:nvSpPr>
      <dsp:spPr>
        <a:xfrm rot="5400000">
          <a:off x="8104330" y="-6277740"/>
          <a:ext cx="1696002" cy="1425173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bg1">
              <a:lumMod val="50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Self-paced courses &amp; live workshops</a:t>
          </a:r>
        </a:p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Learn when to use formulas, Power Query, Python, and Copilot</a:t>
          </a:r>
        </a:p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Focus on clarity, maintainability, and confidence</a:t>
          </a:r>
        </a:p>
      </dsp:txBody>
      <dsp:txXfrm rot="-5400000">
        <a:off x="1826464" y="82918"/>
        <a:ext cx="14168943" cy="1530418"/>
      </dsp:txXfrm>
    </dsp:sp>
    <dsp:sp modelId="{94386F4B-5B07-46D9-B7E2-E761F0E5054B}">
      <dsp:nvSpPr>
        <dsp:cNvPr id="0" name=""/>
        <dsp:cNvSpPr/>
      </dsp:nvSpPr>
      <dsp:spPr>
        <a:xfrm rot="5400000">
          <a:off x="-391385" y="2813205"/>
          <a:ext cx="2609234" cy="1826464"/>
        </a:xfrm>
        <a:prstGeom prst="chevron">
          <a:avLst/>
        </a:prstGeom>
        <a:solidFill>
          <a:srgbClr val="C00000"/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dirty="0"/>
            <a:t>Teams</a:t>
          </a:r>
        </a:p>
      </dsp:txBody>
      <dsp:txXfrm rot="-5400000">
        <a:off x="0" y="3335052"/>
        <a:ext cx="1826464" cy="782770"/>
      </dsp:txXfrm>
    </dsp:sp>
    <dsp:sp modelId="{E1F63806-3F95-47B1-A8FC-936CE11E41B2}">
      <dsp:nvSpPr>
        <dsp:cNvPr id="0" name=""/>
        <dsp:cNvSpPr/>
      </dsp:nvSpPr>
      <dsp:spPr>
        <a:xfrm rot="5400000">
          <a:off x="8104330" y="-3856045"/>
          <a:ext cx="1696002" cy="1425173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bg1">
              <a:lumMod val="50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Practical corporate training</a:t>
          </a:r>
        </a:p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Apply modern Excel patterns to real workflows</a:t>
          </a:r>
        </a:p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Reduce errors, rework, and one-off fixes</a:t>
          </a:r>
        </a:p>
      </dsp:txBody>
      <dsp:txXfrm rot="-5400000">
        <a:off x="1826464" y="2504613"/>
        <a:ext cx="14168943" cy="1530418"/>
      </dsp:txXfrm>
    </dsp:sp>
    <dsp:sp modelId="{6686DA01-4710-4887-9ED3-F851DFA90AFC}">
      <dsp:nvSpPr>
        <dsp:cNvPr id="0" name=""/>
        <dsp:cNvSpPr/>
      </dsp:nvSpPr>
      <dsp:spPr>
        <a:xfrm rot="5400000">
          <a:off x="-391385" y="5234900"/>
          <a:ext cx="2609234" cy="1826464"/>
        </a:xfrm>
        <a:prstGeom prst="chevron">
          <a:avLst/>
        </a:prstGeom>
        <a:solidFill>
          <a:srgbClr val="C00000"/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dirty="0"/>
            <a:t>Organizations</a:t>
          </a:r>
        </a:p>
      </dsp:txBody>
      <dsp:txXfrm rot="-5400000">
        <a:off x="0" y="5756747"/>
        <a:ext cx="1826464" cy="782770"/>
      </dsp:txXfrm>
    </dsp:sp>
    <dsp:sp modelId="{5B4E17BA-CB83-4086-AB9F-98D828E680FB}">
      <dsp:nvSpPr>
        <dsp:cNvPr id="0" name=""/>
        <dsp:cNvSpPr/>
      </dsp:nvSpPr>
      <dsp:spPr>
        <a:xfrm rot="5400000">
          <a:off x="8104330" y="-1434351"/>
          <a:ext cx="1696002" cy="1425173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bg1">
              <a:lumMod val="50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Guided, multi-week modernization program</a:t>
          </a:r>
        </a:p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Teams learn to build pipelines, automation, and documentation</a:t>
          </a:r>
        </a:p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Internal ownership of reliable, </a:t>
          </a:r>
          <a:r>
            <a:rPr lang="en-US" sz="3200" kern="1200"/>
            <a:t>auditable workflows</a:t>
          </a:r>
          <a:endParaRPr lang="en-US" sz="3200" kern="1200" dirty="0"/>
        </a:p>
      </dsp:txBody>
      <dsp:txXfrm rot="-5400000">
        <a:off x="1826464" y="4926307"/>
        <a:ext cx="14168943" cy="153041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matrix2">
  <dgm:title val=""/>
  <dgm:desc val=""/>
  <dgm:catLst>
    <dgm:cat type="matrix" pri="3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0" destOrd="0"/>
        <dgm:cxn modelId="8" srcId="0" destId="4" srcOrd="1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matrix">
    <dgm:varLst>
      <dgm:chMax val="1"/>
      <dgm:dir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axisShape" refType="w"/>
          <dgm:constr type="h" for="ch" forName="axisShape" refType="h"/>
          <dgm:constr type="w" for="ch" forName="rect1" refType="w" fact="0.4"/>
          <dgm:constr type="h" for="ch" forName="rect1" refType="w" fact="0.4"/>
          <dgm:constr type="l" for="ch" forName="rect1" refType="w" fact="0.065"/>
          <dgm:constr type="t" for="ch" forName="rect1" refType="h" fact="0.065"/>
          <dgm:constr type="w" for="ch" forName="rect2" refType="w" fact="0.4"/>
          <dgm:constr type="h" for="ch" forName="rect2" refType="h" fact="0.4"/>
          <dgm:constr type="r" for="ch" forName="rect2" refType="w" fact="0.935"/>
          <dgm:constr type="t" for="ch" forName="rect2" refType="h" fact="0.065"/>
          <dgm:constr type="w" for="ch" forName="rect3" refType="w" fact="0.4"/>
          <dgm:constr type="h" for="ch" forName="rect3" refType="w" fact="0.4"/>
          <dgm:constr type="l" for="ch" forName="rect3" refType="w" fact="0.065"/>
          <dgm:constr type="b" for="ch" forName="rect3" refType="h" fact="0.935"/>
          <dgm:constr type="w" for="ch" forName="rect4" refType="w" fact="0.4"/>
          <dgm:constr type="h" for="ch" forName="rect4" refType="h" fact="0.4"/>
          <dgm:constr type="r" for="ch" forName="rect4" refType="w" fact="0.935"/>
          <dgm:constr type="b" for="ch" forName="rect4" refType="h" fact="0.935"/>
        </dgm:constrLst>
      </dgm:if>
      <dgm:else name="Name2">
        <dgm:constrLst>
          <dgm:constr type="primFontSz" for="ch" ptType="node" op="equ" val="65"/>
          <dgm:constr type="w" for="ch" forName="axisShape" refType="w"/>
          <dgm:constr type="h" for="ch" forName="axisShape" refType="h"/>
          <dgm:constr type="w" for="ch" forName="rect1" refType="w" fact="0.4"/>
          <dgm:constr type="h" for="ch" forName="rect1" refType="w" fact="0.4"/>
          <dgm:constr type="r" for="ch" forName="rect1" refType="w" fact="0.935"/>
          <dgm:constr type="t" for="ch" forName="rect1" refType="h" fact="0.065"/>
          <dgm:constr type="w" for="ch" forName="rect2" refType="w" fact="0.4"/>
          <dgm:constr type="h" for="ch" forName="rect2" refType="h" fact="0.4"/>
          <dgm:constr type="l" for="ch" forName="rect2" refType="w" fact="0.065"/>
          <dgm:constr type="t" for="ch" forName="rect2" refType="h" fact="0.065"/>
          <dgm:constr type="w" for="ch" forName="rect3" refType="w" fact="0.4"/>
          <dgm:constr type="h" for="ch" forName="rect3" refType="w" fact="0.4"/>
          <dgm:constr type="r" for="ch" forName="rect3" refType="w" fact="0.935"/>
          <dgm:constr type="b" for="ch" forName="rect3" refType="h" fact="0.935"/>
          <dgm:constr type="w" for="ch" forName="rect4" refType="w" fact="0.4"/>
          <dgm:constr type="h" for="ch" forName="rect4" refType="h" fact="0.4"/>
          <dgm:constr type="l" for="ch" forName="rect4" refType="w" fact="0.065"/>
          <dgm:constr type="b" for="ch" forName="rect4" refType="h" fact="0.935"/>
        </dgm:constrLst>
      </dgm:else>
    </dgm:choose>
    <dgm:ruleLst/>
    <dgm:choose name="Name3">
      <dgm:if name="Name4" axis="ch" ptType="node" func="cnt" op="gte" val="1">
        <dgm:layoutNode name="axisShape" styleLbl="bgShp">
          <dgm:alg type="sp"/>
          <dgm:shape xmlns:r="http://schemas.openxmlformats.org/officeDocument/2006/relationships" type="quadArrow" r:blip="">
            <dgm:adjLst>
              <dgm:adj idx="1" val="0.02"/>
              <dgm:adj idx="2" val="0.04"/>
              <dgm:adj idx="3" val="0.05"/>
            </dgm:adjLst>
          </dgm:shape>
          <dgm:presOf/>
          <dgm:constrLst/>
          <dgm:ruleLst/>
        </dgm:layoutNode>
        <dgm:layoutNode name="rect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rect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rect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3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rect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4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5"/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A98A70-FA8C-4354-959C-C70678AC9BCF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B500C5-13F7-48FC-8160-C29AECF6C6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83505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"Thanks for joining. Before we get started, I want to set expectations clearly.</a:t>
            </a:r>
          </a:p>
          <a:p>
            <a:r>
              <a:rPr lang="en-US" dirty="0"/>
              <a:t>This is not an Excel training session. There are no formulas, demos, or walkthroughs today.</a:t>
            </a:r>
          </a:p>
          <a:p>
            <a:r>
              <a:rPr lang="en-US" dirty="0"/>
              <a:t>This is a short, decision-level conversation about how Excel actually functions inside organizations — and what gets missed when it’s treated as a basic skill instead of a platform."</a:t>
            </a:r>
          </a:p>
          <a:p>
            <a:r>
              <a:rPr lang="en-US" dirty="0"/>
              <a:t>Pause.</a:t>
            </a:r>
          </a:p>
          <a:p>
            <a:r>
              <a:rPr lang="en-US" dirty="0"/>
              <a:t>"If you’re responsible for approving tools, training, or workflows, this session is for you."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500C5-13F7-48FC-8160-C29AECF6C60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1597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“Very briefly, for context — this is the lens I’m coming from.”</a:t>
            </a:r>
          </a:p>
          <a:p>
            <a:endParaRPr lang="en-US" dirty="0"/>
          </a:p>
          <a:p>
            <a:r>
              <a:rPr lang="en-US" dirty="0"/>
              <a:t>“I spend most of my time seeing how Excel is </a:t>
            </a:r>
            <a:r>
              <a:rPr lang="en-US" i="1" dirty="0"/>
              <a:t>actually</a:t>
            </a:r>
            <a:r>
              <a:rPr lang="en-US" dirty="0"/>
              <a:t> used — not how people say it’s used.”</a:t>
            </a:r>
          </a:p>
          <a:p>
            <a:endParaRPr lang="en-US" dirty="0"/>
          </a:p>
          <a:p>
            <a:r>
              <a:rPr lang="en-US" dirty="0"/>
              <a:t>“That means planning models, reconciliation files, exception handling, and last-mile analysis — not toy examples.”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500C5-13F7-48FC-8160-C29AECF6C60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3693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“Today is framing, not training.”</a:t>
            </a:r>
          </a:p>
          <a:p>
            <a:r>
              <a:rPr lang="en-US" dirty="0"/>
              <a:t>Pause.</a:t>
            </a:r>
          </a:p>
          <a:p>
            <a:endParaRPr lang="en-US" dirty="0"/>
          </a:p>
          <a:p>
            <a:r>
              <a:rPr lang="en-US" dirty="0"/>
              <a:t>“I’ll talk through real-world patterns I see constantly — especially around tooling and investment decisions.”</a:t>
            </a:r>
          </a:p>
          <a:p>
            <a:r>
              <a:rPr lang="en-US" dirty="0"/>
              <a:t>Pause.</a:t>
            </a:r>
          </a:p>
          <a:p>
            <a:endParaRPr lang="en-US" dirty="0"/>
          </a:p>
          <a:p>
            <a:r>
              <a:rPr lang="en-US" dirty="0"/>
              <a:t>“And I’ll give you a practical way to think about those decisions going forward.”</a:t>
            </a:r>
          </a:p>
          <a:p>
            <a:r>
              <a:rPr lang="en-US" dirty="0"/>
              <a:t>“We’ll leave time for questions at the end.”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500C5-13F7-48FC-8160-C29AECF6C60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71588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9846E-618D-BFBD-D332-67663A0B2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58F9DF-E9D1-CF0C-5AD2-26956D34AD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7A31A7-CD03-1063-FE6D-FF0B097773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“I want to start with a pattern that shows up everywhere.”</a:t>
            </a:r>
          </a:p>
          <a:p>
            <a:r>
              <a:rPr lang="en-US" dirty="0"/>
              <a:t>“When a new tool is introduced — analytics, planning, reporting — it immediately feels strategic.”</a:t>
            </a:r>
          </a:p>
          <a:p>
            <a:r>
              <a:rPr lang="en-US" dirty="0"/>
              <a:t>List verbally:</a:t>
            </a:r>
          </a:p>
          <a:p>
            <a:r>
              <a:rPr lang="en-US" dirty="0"/>
              <a:t>rollout</a:t>
            </a:r>
          </a:p>
          <a:p>
            <a:r>
              <a:rPr lang="en-US" dirty="0"/>
              <a:t>roadmap</a:t>
            </a:r>
          </a:p>
          <a:p>
            <a:r>
              <a:rPr lang="en-US" dirty="0"/>
              <a:t>budget</a:t>
            </a:r>
          </a:p>
          <a:p>
            <a:r>
              <a:rPr lang="en-US" dirty="0"/>
              <a:t>training</a:t>
            </a:r>
          </a:p>
          <a:p>
            <a:r>
              <a:rPr lang="en-US" dirty="0"/>
              <a:t>“Excel doesn’t get that treatment because it’s familiar.”</a:t>
            </a:r>
          </a:p>
          <a:p>
            <a:r>
              <a:rPr lang="en-US" dirty="0"/>
              <a:t>Pause.</a:t>
            </a:r>
          </a:p>
          <a:p>
            <a:r>
              <a:rPr lang="en-US" dirty="0"/>
              <a:t>“And familiarity creates confidence — sometimes false confidence — that changes how investment decisions get made.”</a:t>
            </a:r>
          </a:p>
          <a:p>
            <a:r>
              <a:rPr lang="en-US" dirty="0"/>
              <a:t>Let the discomfort sit for a beat.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502066-F94B-1C08-518A-7AC98CB510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500C5-13F7-48FC-8160-C29AECF6C60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6509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4D5C29-B7A9-729F-4EF6-609C450E8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E82E59-CA72-4AC1-84F3-BBAB16A336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6DC194-B51C-1855-2374-DEAB2B8311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“This combination is the root of a lot of problems.”</a:t>
            </a:r>
          </a:p>
          <a:p>
            <a:r>
              <a:rPr lang="en-US" dirty="0"/>
              <a:t>Take each line slowly.</a:t>
            </a:r>
          </a:p>
          <a:p>
            <a:r>
              <a:rPr lang="en-US" dirty="0"/>
              <a:t>“Everyone uses Excel — across departments and seniority levels.”</a:t>
            </a:r>
          </a:p>
          <a:p>
            <a:r>
              <a:rPr lang="en-US" dirty="0"/>
              <a:t>“But no one really owns it as a platform.”</a:t>
            </a:r>
          </a:p>
          <a:p>
            <a:r>
              <a:rPr lang="en-US" dirty="0"/>
              <a:t>Pause.</a:t>
            </a:r>
          </a:p>
          <a:p>
            <a:r>
              <a:rPr lang="en-US" dirty="0"/>
              <a:t>“So instead of managing it intentionally, organizations default to an assumption:</a:t>
            </a:r>
            <a:br>
              <a:rPr lang="en-US" dirty="0"/>
            </a:br>
            <a:r>
              <a:rPr lang="en-US" dirty="0"/>
              <a:t>people already know it, and they’re using it appropriately.”</a:t>
            </a:r>
          </a:p>
          <a:p>
            <a:r>
              <a:rPr lang="en-US" dirty="0"/>
              <a:t>Pause again. Don’t explain yet.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502255-EAA3-3757-8CA0-1EED2C06F9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500C5-13F7-48FC-8160-C29AECF6C602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20765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D5BDE7-6AA7-33A0-E898-64AFC3D1F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CC9B6D-3C68-3E0D-22C7-EADCCADF4E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E63E9C-476A-9F5E-10CB-A35F4494EA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“When Excel is under-invested in, the cost almost never shows up as a dollar amount.”</a:t>
            </a:r>
          </a:p>
          <a:p>
            <a:r>
              <a:rPr lang="en-US" dirty="0"/>
              <a:t>Pause.</a:t>
            </a:r>
          </a:p>
          <a:p>
            <a:r>
              <a:rPr lang="en-US" dirty="0"/>
              <a:t>“It shows up as rework.</a:t>
            </a:r>
            <a:br>
              <a:rPr lang="en-US" dirty="0"/>
            </a:br>
            <a:r>
              <a:rPr lang="en-US" dirty="0"/>
              <a:t>Reconciliation loops.</a:t>
            </a:r>
            <a:br>
              <a:rPr lang="en-US" dirty="0"/>
            </a:br>
            <a:r>
              <a:rPr lang="en-US" dirty="0"/>
              <a:t>Manual checks.</a:t>
            </a:r>
            <a:br>
              <a:rPr lang="en-US" dirty="0"/>
            </a:br>
            <a:r>
              <a:rPr lang="en-US" dirty="0"/>
              <a:t>Shadow systems.”</a:t>
            </a:r>
          </a:p>
          <a:p>
            <a:r>
              <a:rPr lang="en-US" dirty="0"/>
              <a:t>“And a lot of analyst fatigue.”</a:t>
            </a:r>
          </a:p>
          <a:p>
            <a:r>
              <a:rPr lang="en-US" dirty="0"/>
              <a:t>Important line:</a:t>
            </a:r>
          </a:p>
          <a:p>
            <a:r>
              <a:rPr lang="en-US" dirty="0"/>
              <a:t>“None of this happens because people are careless.”</a:t>
            </a:r>
          </a:p>
          <a:p>
            <a:r>
              <a:rPr lang="en-US" dirty="0"/>
              <a:t>Pause.</a:t>
            </a:r>
          </a:p>
          <a:p>
            <a:r>
              <a:rPr lang="en-US" dirty="0"/>
              <a:t>“It happens because Excel is expected to behave like a disposable tool and a production system at the same time.”</a:t>
            </a:r>
          </a:p>
          <a:p>
            <a:r>
              <a:rPr lang="en-US" dirty="0"/>
              <a:t>Let that land. This is a </a:t>
            </a:r>
            <a:r>
              <a:rPr lang="en-US" i="1" dirty="0"/>
              <a:t>thinking slide</a:t>
            </a:r>
            <a:r>
              <a:rPr lang="en-US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198E77-A22B-1F4A-3CA8-A30D876C7D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500C5-13F7-48FC-8160-C29AECF6C602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2830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7C3C02-9EDC-57EC-5115-BD273DE80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8BCB34-1A39-731F-5546-247C0DA3F6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F4FEB2-3DFE-3573-3CC6-5A4A93A264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“Even in very modern analytics stacks, Excel hasn’t gone away.”</a:t>
            </a:r>
          </a:p>
          <a:p>
            <a:r>
              <a:rPr lang="en-US" dirty="0"/>
              <a:t>List slowly:</a:t>
            </a:r>
          </a:p>
          <a:p>
            <a:r>
              <a:rPr lang="en-US" dirty="0"/>
              <a:t>exceptions</a:t>
            </a:r>
          </a:p>
          <a:p>
            <a:r>
              <a:rPr lang="en-US" dirty="0"/>
              <a:t>scenarios</a:t>
            </a:r>
          </a:p>
          <a:p>
            <a:r>
              <a:rPr lang="en-US" dirty="0"/>
              <a:t>assumptions</a:t>
            </a:r>
          </a:p>
          <a:p>
            <a:r>
              <a:rPr lang="en-US" dirty="0"/>
              <a:t>decisions</a:t>
            </a:r>
          </a:p>
          <a:p>
            <a:r>
              <a:rPr lang="en-US" dirty="0"/>
              <a:t>“Dashboards are great at showing what happened.”</a:t>
            </a:r>
          </a:p>
          <a:p>
            <a:r>
              <a:rPr lang="en-US" dirty="0"/>
              <a:t>Pause.</a:t>
            </a:r>
          </a:p>
          <a:p>
            <a:r>
              <a:rPr lang="en-US" dirty="0"/>
              <a:t>“Excel is still where people ask ‘what if?’”</a:t>
            </a:r>
          </a:p>
          <a:p>
            <a:r>
              <a:rPr lang="en-US" dirty="0"/>
              <a:t>This slide does a lot of work — give it time.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94C33E-607C-BE89-4FFC-7F9E7E70F8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500C5-13F7-48FC-8160-C29AECF6C602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23861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A99C18-3BCE-A7B5-4302-D5D1181A8F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6D0DD1-E6BA-A6CC-6C36-BBB4D6AE99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8DE126-3618-D522-F20A-358DCCB4B8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Set the frame</a:t>
            </a:r>
            <a:endParaRPr lang="en-US" dirty="0"/>
          </a:p>
          <a:p>
            <a:r>
              <a:rPr lang="en-US" dirty="0"/>
              <a:t>“This 2×2 is really the core of how I think about where Excel fits — and where problems tend to show up.”</a:t>
            </a:r>
          </a:p>
          <a:p>
            <a:r>
              <a:rPr lang="en-US" dirty="0"/>
              <a:t>“This is </a:t>
            </a:r>
            <a:r>
              <a:rPr lang="en-US" i="1" dirty="0"/>
              <a:t>not</a:t>
            </a:r>
            <a:r>
              <a:rPr lang="en-US" dirty="0"/>
              <a:t> a tool comparison. It’s not Excel versus anything else.</a:t>
            </a:r>
            <a:br>
              <a:rPr lang="en-US" dirty="0"/>
            </a:br>
            <a:r>
              <a:rPr lang="en-US" dirty="0"/>
              <a:t>This is about different </a:t>
            </a:r>
            <a:r>
              <a:rPr lang="en-US" i="1" dirty="0"/>
              <a:t>types of work</a:t>
            </a:r>
            <a:r>
              <a:rPr lang="en-US" dirty="0"/>
              <a:t>.”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Walk the axes first</a:t>
            </a:r>
          </a:p>
          <a:p>
            <a:r>
              <a:rPr lang="en-US" b="1" dirty="0"/>
              <a:t>Horizontal axis — uncertainty of the work</a:t>
            </a:r>
            <a:endParaRPr lang="en-US" dirty="0"/>
          </a:p>
          <a:p>
            <a:r>
              <a:rPr lang="en-US" dirty="0"/>
              <a:t>“Along the horizontal axis is uncertainty of the work.”</a:t>
            </a:r>
          </a:p>
          <a:p>
            <a:r>
              <a:rPr lang="en-US" dirty="0"/>
              <a:t>“On the left, low uncertainty:</a:t>
            </a:r>
            <a:br>
              <a:rPr lang="en-US" dirty="0"/>
            </a:br>
            <a:r>
              <a:rPr lang="en-US" dirty="0"/>
              <a:t>We know the question.</a:t>
            </a:r>
            <a:br>
              <a:rPr lang="en-US" dirty="0"/>
            </a:br>
            <a:r>
              <a:rPr lang="en-US" dirty="0"/>
              <a:t>Definitions are stable.</a:t>
            </a:r>
            <a:br>
              <a:rPr lang="en-US" dirty="0"/>
            </a:br>
            <a:r>
              <a:rPr lang="en-US" dirty="0"/>
              <a:t>The work repeats every cycle.”</a:t>
            </a:r>
          </a:p>
          <a:p>
            <a:r>
              <a:rPr lang="en-US" dirty="0"/>
              <a:t>“On the right, high uncertainty:</a:t>
            </a:r>
            <a:br>
              <a:rPr lang="en-US" dirty="0"/>
            </a:br>
            <a:r>
              <a:rPr lang="en-US" dirty="0"/>
              <a:t>The question is still evolving.</a:t>
            </a:r>
            <a:br>
              <a:rPr lang="en-US" dirty="0"/>
            </a:br>
            <a:r>
              <a:rPr lang="en-US" dirty="0"/>
              <a:t>Assumptions change.</a:t>
            </a:r>
            <a:br>
              <a:rPr lang="en-US" dirty="0"/>
            </a:br>
            <a:r>
              <a:rPr lang="en-US" dirty="0"/>
              <a:t>We’re exploring and iterating.”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Vertical axis — standardization</a:t>
            </a:r>
            <a:endParaRPr lang="en-US" dirty="0"/>
          </a:p>
          <a:p>
            <a:r>
              <a:rPr lang="en-US" dirty="0"/>
              <a:t>“On the vertical axis is standardization.”</a:t>
            </a:r>
          </a:p>
          <a:p>
            <a:r>
              <a:rPr lang="en-US" dirty="0"/>
              <a:t>“At the bottom, low standardization:</a:t>
            </a:r>
            <a:br>
              <a:rPr lang="en-US" dirty="0"/>
            </a:br>
            <a:r>
              <a:rPr lang="en-US" dirty="0"/>
              <a:t>Personal or small-team work.</a:t>
            </a:r>
            <a:br>
              <a:rPr lang="en-US" dirty="0"/>
            </a:br>
            <a:r>
              <a:rPr lang="en-US" dirty="0"/>
              <a:t>Judgment-heavy.</a:t>
            </a:r>
            <a:br>
              <a:rPr lang="en-US" dirty="0"/>
            </a:br>
            <a:r>
              <a:rPr lang="en-US" dirty="0"/>
              <a:t>Not meant to be reused widely.”</a:t>
            </a:r>
          </a:p>
          <a:p>
            <a:r>
              <a:rPr lang="en-US" dirty="0"/>
              <a:t>“At the top, high standardization:</a:t>
            </a:r>
            <a:br>
              <a:rPr lang="en-US" dirty="0"/>
            </a:br>
            <a:r>
              <a:rPr lang="en-US" dirty="0"/>
              <a:t>Shared metrics.</a:t>
            </a:r>
            <a:br>
              <a:rPr lang="en-US" dirty="0"/>
            </a:br>
            <a:r>
              <a:rPr lang="en-US" dirty="0"/>
              <a:t>Repeatable outputs.</a:t>
            </a:r>
            <a:br>
              <a:rPr lang="en-US" dirty="0"/>
            </a:br>
            <a:r>
              <a:rPr lang="en-US" dirty="0"/>
              <a:t>Consistency really matters.”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Walk the quadrants</a:t>
            </a:r>
          </a:p>
          <a:p>
            <a:r>
              <a:rPr lang="en-US" b="1" dirty="0"/>
              <a:t>Bottom-left — Personal analysis &amp; quick checks</a:t>
            </a:r>
            <a:endParaRPr lang="en-US" dirty="0"/>
          </a:p>
          <a:p>
            <a:r>
              <a:rPr lang="en-US" dirty="0"/>
              <a:t>“Bottom-left is personal analysis and quick checks.”</a:t>
            </a:r>
          </a:p>
          <a:p>
            <a:r>
              <a:rPr lang="en-US" dirty="0"/>
              <a:t>“This is where a lot of thinking starts:</a:t>
            </a:r>
            <a:br>
              <a:rPr lang="en-US" dirty="0"/>
            </a:br>
            <a:r>
              <a:rPr lang="en-US" dirty="0"/>
              <a:t>sanity checks, one-off analysis, ad hoc validation.”</a:t>
            </a:r>
          </a:p>
          <a:p>
            <a:r>
              <a:rPr lang="en-US" dirty="0"/>
              <a:t>“Excel is perfectly fine here — and usually very fast.</a:t>
            </a:r>
            <a:br>
              <a:rPr lang="en-US" dirty="0"/>
            </a:br>
            <a:r>
              <a:rPr lang="en-US" dirty="0"/>
              <a:t>There’s no reason to over-engineer this quadrant.”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Bottom-right — Exploration, scenarios, and ‘what if’</a:t>
            </a:r>
            <a:endParaRPr lang="en-US" dirty="0"/>
          </a:p>
          <a:p>
            <a:r>
              <a:rPr lang="en-US" dirty="0"/>
              <a:t>“Bottom-right is exploration, scenarios, and ‘what if’ work.”</a:t>
            </a:r>
          </a:p>
          <a:p>
            <a:r>
              <a:rPr lang="en-US" dirty="0"/>
              <a:t>“This is where Excel is incredibly strong — and where it often does its most valuable work.”</a:t>
            </a:r>
          </a:p>
          <a:p>
            <a:r>
              <a:rPr lang="en-US" dirty="0"/>
              <a:t>“Scenario modeling, planning, assumption testing, exception handling.”</a:t>
            </a:r>
          </a:p>
          <a:p>
            <a:r>
              <a:rPr lang="en-US" dirty="0"/>
              <a:t>“This is the space where people argue about assumptions, not answers.”</a:t>
            </a:r>
          </a:p>
          <a:p>
            <a:r>
              <a:rPr lang="en-US" i="1" dirty="0"/>
              <a:t>(Pause here. This is the key quadrant.)</a:t>
            </a:r>
            <a:endParaRPr lang="en-US" dirty="0"/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Top-left — Repeatable reporting</a:t>
            </a:r>
            <a:endParaRPr lang="en-US" dirty="0"/>
          </a:p>
          <a:p>
            <a:r>
              <a:rPr lang="en-US" dirty="0"/>
              <a:t>“Top-left is repeatable reporting.”</a:t>
            </a:r>
          </a:p>
          <a:p>
            <a:r>
              <a:rPr lang="en-US" dirty="0"/>
              <a:t>“Low uncertainty, but high standardization.”</a:t>
            </a:r>
          </a:p>
          <a:p>
            <a:r>
              <a:rPr lang="en-US" dirty="0"/>
              <a:t>“Monthly reports, KPIs, dashboards.”</a:t>
            </a:r>
          </a:p>
          <a:p>
            <a:r>
              <a:rPr lang="en-US" dirty="0"/>
              <a:t>“This is where Excel often </a:t>
            </a:r>
            <a:r>
              <a:rPr lang="en-US" i="1" dirty="0"/>
              <a:t>shouldn’t</a:t>
            </a:r>
            <a:r>
              <a:rPr lang="en-US" dirty="0"/>
              <a:t> be the primary delivery mechanism — but frequently ends up there by default.”</a:t>
            </a:r>
          </a:p>
          <a:p>
            <a:r>
              <a:rPr lang="en-US" dirty="0"/>
              <a:t>“That’s not because Excel is bad.</a:t>
            </a:r>
            <a:br>
              <a:rPr lang="en-US" dirty="0"/>
            </a:br>
            <a:r>
              <a:rPr lang="en-US" dirty="0"/>
              <a:t>It’s because the work has changed, but the process hasn’t.”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Top-right — Competing needs</a:t>
            </a:r>
            <a:endParaRPr lang="en-US" dirty="0"/>
          </a:p>
          <a:p>
            <a:r>
              <a:rPr lang="en-US" dirty="0"/>
              <a:t>“Top-right is where teams really feel the pain.”</a:t>
            </a:r>
          </a:p>
          <a:p>
            <a:r>
              <a:rPr lang="en-US" dirty="0"/>
              <a:t>“High uncertainty </a:t>
            </a:r>
            <a:r>
              <a:rPr lang="en-US" i="1" dirty="0"/>
              <a:t>and</a:t>
            </a:r>
            <a:r>
              <a:rPr lang="en-US" dirty="0"/>
              <a:t> high standardization.”</a:t>
            </a:r>
          </a:p>
          <a:p>
            <a:r>
              <a:rPr lang="en-US" dirty="0"/>
              <a:t>“Forecasts that keep changing but must stay consistent.</a:t>
            </a:r>
            <a:br>
              <a:rPr lang="en-US" dirty="0"/>
            </a:br>
            <a:r>
              <a:rPr lang="en-US" dirty="0"/>
              <a:t>Planning models used by many people.</a:t>
            </a:r>
            <a:br>
              <a:rPr lang="en-US" dirty="0"/>
            </a:br>
            <a:r>
              <a:rPr lang="en-US" dirty="0"/>
              <a:t>Evolving definitions with high visibility.”</a:t>
            </a:r>
          </a:p>
          <a:p>
            <a:r>
              <a:rPr lang="en-US" dirty="0"/>
              <a:t>“Teams want flexibility and control at the same time — and that tension doesn’t get solved by just picking a different tool.”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Zoom out / takeaway</a:t>
            </a:r>
          </a:p>
          <a:p>
            <a:r>
              <a:rPr lang="en-US" dirty="0"/>
              <a:t>“The main takeaway is this:</a:t>
            </a:r>
            <a:br>
              <a:rPr lang="en-US" dirty="0"/>
            </a:br>
            <a:r>
              <a:rPr lang="en-US" dirty="0"/>
              <a:t>Problems usually don’t come from using Excel.”</a:t>
            </a:r>
          </a:p>
          <a:p>
            <a:r>
              <a:rPr lang="en-US" dirty="0"/>
              <a:t>“They come from asking Excel to live in the wrong quadrant — or trying to make one tool serve all four.”</a:t>
            </a:r>
          </a:p>
          <a:p>
            <a:r>
              <a:rPr lang="en-US" dirty="0"/>
              <a:t>“When Excel is treated seriously, and used intentionally, a lot of this friction disappears.”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Optional closing line (use if it feels right)</a:t>
            </a:r>
          </a:p>
          <a:p>
            <a:r>
              <a:rPr lang="en-US" dirty="0"/>
              <a:t>“This is why Excel isn’t ‘basic.’</a:t>
            </a:r>
            <a:br>
              <a:rPr lang="en-US" dirty="0"/>
            </a:br>
            <a:r>
              <a:rPr lang="en-US" dirty="0"/>
              <a:t>It’s powerful — but only when we’re honest about the kind of work we’re asking it to do.”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E8A72A-7526-781D-EE45-C3A978F466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500C5-13F7-48FC-8160-C29AECF6C602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066382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16AC98-B810-9FFF-475D-BD38C2D7C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6F676B-CF5E-F1B5-CF2B-7D72FDCD26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2EE51C-2273-B781-F0EF-9471C39383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"When teams struggle, the instinct is often to add tools.</a:t>
            </a:r>
          </a:p>
          <a:p>
            <a:r>
              <a:rPr lang="en-US" dirty="0"/>
              <a:t>But in many cases, the real constraint is:</a:t>
            </a:r>
          </a:p>
          <a:p>
            <a:r>
              <a:rPr lang="en-US" dirty="0"/>
              <a:t>How logic is reused</a:t>
            </a:r>
          </a:p>
          <a:p>
            <a:r>
              <a:rPr lang="en-US" dirty="0"/>
              <a:t>How assumptions are documented</a:t>
            </a:r>
          </a:p>
          <a:p>
            <a:r>
              <a:rPr lang="en-US" dirty="0"/>
              <a:t>How people are supported</a:t>
            </a:r>
          </a:p>
          <a:p>
            <a:r>
              <a:rPr lang="en-US" dirty="0"/>
              <a:t>How decisions flow</a:t>
            </a:r>
          </a:p>
          <a:p>
            <a:r>
              <a:rPr lang="en-US" dirty="0"/>
              <a:t>Tools don’t solve those things by themselves.</a:t>
            </a:r>
          </a:p>
          <a:p>
            <a:r>
              <a:rPr lang="en-US" dirty="0"/>
              <a:t>Capability does."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45FA16-329E-8FFB-E58C-C0F8E66031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500C5-13F7-48FC-8160-C29AECF6C602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5608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90A392-15BA-88DD-2FBC-969A110DCF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35CFEF-C9C7-3D3B-7BC3-F3E8111775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3867B2-436C-94A2-F520-B7158BEFB8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“When Excel is treated as a real platform — not a toy — a few things tend to change.”</a:t>
            </a:r>
          </a:p>
          <a:p>
            <a:r>
              <a:rPr lang="en-US" dirty="0"/>
              <a:t>Read the bullets slowly and expand verbally.</a:t>
            </a:r>
          </a:p>
          <a:p>
            <a:r>
              <a:rPr lang="en-US" dirty="0"/>
              <a:t>“Teams stop rebuilding the same logic.”</a:t>
            </a:r>
          </a:p>
          <a:p>
            <a:r>
              <a:rPr lang="en-US" dirty="0"/>
              <a:t>“They trust outputs more.”</a:t>
            </a:r>
          </a:p>
          <a:p>
            <a:r>
              <a:rPr lang="en-US" dirty="0"/>
              <a:t>“They argue about assumptions instead of formulas.”</a:t>
            </a:r>
          </a:p>
          <a:p>
            <a:r>
              <a:rPr lang="en-US" dirty="0"/>
              <a:t>“And they usually end up using </a:t>
            </a:r>
            <a:r>
              <a:rPr lang="en-US" i="1" dirty="0"/>
              <a:t>fewer</a:t>
            </a:r>
            <a:r>
              <a:rPr lang="en-US" dirty="0"/>
              <a:t> tools — more effectively.”</a:t>
            </a:r>
          </a:p>
          <a:p>
            <a:r>
              <a:rPr lang="en-US" dirty="0"/>
              <a:t>This is a hopeful slide. Don’t rush it.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87E33A-90E3-E08D-1DFC-12533A7977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500C5-13F7-48FC-8160-C29AECF6C602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32841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A6BFB2-05DD-D61F-3F84-D7BCD0D3D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B02DE4-0E55-C947-25DB-D72E578EAA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47D358-73A2-CA9E-D0DA-3F8A2BCF15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"I work with individuals and teams who want to move from fragile spreadsheets to more confident, scalable analysis.</a:t>
            </a:r>
          </a:p>
          <a:p>
            <a:r>
              <a:rPr lang="en-US" dirty="0"/>
              <a:t>Sometimes that’s training.</a:t>
            </a:r>
            <a:br>
              <a:rPr lang="en-US" dirty="0"/>
            </a:br>
            <a:r>
              <a:rPr lang="en-US" dirty="0"/>
              <a:t>Sometimes it’s advisory work.</a:t>
            </a:r>
            <a:br>
              <a:rPr lang="en-US" dirty="0"/>
            </a:br>
            <a:r>
              <a:rPr lang="en-US" dirty="0"/>
              <a:t>Sometimes it’s helping teams decide what </a:t>
            </a:r>
            <a:r>
              <a:rPr lang="en-US" i="1" dirty="0"/>
              <a:t>not</a:t>
            </a:r>
            <a:r>
              <a:rPr lang="en-US" dirty="0"/>
              <a:t> to build.</a:t>
            </a:r>
          </a:p>
          <a:p>
            <a:r>
              <a:rPr lang="en-US" dirty="0"/>
              <a:t>This session is meant to give you a clearer way to think about those decisions."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10C7BB-22B2-20BC-BF70-B49D11B6FF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500C5-13F7-48FC-8160-C29AECF6C602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68874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6C76D6-15D0-A7D7-99DF-2B3ACB81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F6BFD8-E27E-E769-13DC-6BC8209389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BBA8FA-9D53-A0E8-D92B-ED6C1C7E80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"I’ll leave you with this.</a:t>
            </a:r>
          </a:p>
          <a:p>
            <a:r>
              <a:rPr lang="en-US" dirty="0"/>
              <a:t>For many organizations, the fastest and cheapest way to improve analytics isn’t buying something new.</a:t>
            </a:r>
          </a:p>
          <a:p>
            <a:r>
              <a:rPr lang="en-US" dirty="0"/>
              <a:t>It’s changing how seriously you treat the thing everyone already uses.</a:t>
            </a:r>
          </a:p>
          <a:p>
            <a:r>
              <a:rPr lang="en-US" dirty="0"/>
              <a:t>Not by doing more — but by being more intentional.</a:t>
            </a:r>
          </a:p>
          <a:p>
            <a:r>
              <a:rPr lang="en-US" dirty="0"/>
              <a:t>Happy to take questions."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C989F4-55F5-8D6B-77E2-2A6081EC8D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500C5-13F7-48FC-8160-C29AECF6C602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257195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3FF23F-FB16-003A-96C4-413CCC52C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C314FF-2549-073F-8849-440685AD05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973ECF-4F6E-D108-3FCA-58F01DE5D5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“A quick logistical note before we go to questions.</a:t>
            </a:r>
            <a:br>
              <a:rPr lang="en-US" dirty="0"/>
            </a:br>
            <a:r>
              <a:rPr lang="en-US" dirty="0"/>
              <a:t>I’ll share the slides and the recording with registered attendees after the session.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7D681D-B970-807F-5E1D-E8BB5883DA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500C5-13F7-48FC-8160-C29AECF6C602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30864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“Happy to take questions.”</a:t>
            </a:r>
          </a:p>
          <a:p>
            <a:r>
              <a:rPr lang="en-US" dirty="0"/>
              <a:t>“I’m glad to talk about decision-making, tooling strategy, and capability.”</a:t>
            </a:r>
          </a:p>
          <a:p>
            <a:r>
              <a:rPr lang="en-US" dirty="0"/>
              <a:t>“I’m not going to troubleshoot spreadsheets today — but I’m happy to talk about how teams think about these tradeoffs.”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500C5-13F7-48FC-8160-C29AECF6C602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435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jpeg"/><Relationship Id="rId3" Type="http://schemas.openxmlformats.org/officeDocument/2006/relationships/image" Target="../media/image3.jpe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eg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9.png"/><Relationship Id="rId7" Type="http://schemas.openxmlformats.org/officeDocument/2006/relationships/diagramColors" Target="../diagrams/colors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8" Type="http://schemas.microsoft.com/office/2007/relationships/diagramDrawing" Target="../diagrams/drawing2.xml"/><Relationship Id="rId3" Type="http://schemas.openxmlformats.org/officeDocument/2006/relationships/image" Target="../media/image9.png"/><Relationship Id="rId7" Type="http://schemas.openxmlformats.org/officeDocument/2006/relationships/diagramColors" Target="../diagrams/colors2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diagramQuickStyle" Target="../diagrams/quickStyle2.xml"/><Relationship Id="rId5" Type="http://schemas.openxmlformats.org/officeDocument/2006/relationships/diagramLayout" Target="../diagrams/layout2.xml"/><Relationship Id="rId4" Type="http://schemas.openxmlformats.org/officeDocument/2006/relationships/diagramData" Target="../diagrams/data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542796" y="4850092"/>
            <a:ext cx="4745204" cy="5435819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14400" y="-3440159"/>
            <a:ext cx="15257208" cy="111898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6137" y="2531318"/>
            <a:ext cx="11979797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rgbClr val="CF3338"/>
                </a:solidFill>
                <a:latin typeface="Pragmatica" panose="020B0403040502020204" pitchFamily="34" charset="0"/>
              </a:rPr>
              <a:t>Treating Excel seriously:</a:t>
            </a:r>
          </a:p>
          <a:p>
            <a:r>
              <a:rPr lang="en-US" sz="5400" b="1" dirty="0">
                <a:solidFill>
                  <a:srgbClr val="CF3338"/>
                </a:solidFill>
                <a:latin typeface="Pragmatica" panose="020B0403040502020204" pitchFamily="34" charset="0"/>
              </a:rPr>
              <a:t>A better way to invest in analytics capability</a:t>
            </a:r>
          </a:p>
        </p:txBody>
      </p:sp>
      <p:sp>
        <p:nvSpPr>
          <p:cNvPr id="2" name="AutoShape 2" descr="Home | Full Stack Modeller">
            <a:extLst>
              <a:ext uri="{FF2B5EF4-FFF2-40B4-BE49-F238E27FC236}">
                <a16:creationId xmlns:a16="http://schemas.microsoft.com/office/drawing/2014/main" id="{6CCAA77C-4E76-640C-066C-F3E39EE1AC9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991600" y="49911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591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sp>
        <p:nvSpPr>
          <p:cNvPr id="5" name="TextBox 4"/>
          <p:cNvSpPr txBox="1"/>
          <p:nvPr/>
        </p:nvSpPr>
        <p:spPr>
          <a:xfrm>
            <a:off x="781292" y="590309"/>
            <a:ext cx="15486926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>
                <a:solidFill>
                  <a:schemeClr val="bg1"/>
                </a:solidFill>
              </a:rPr>
              <a:t>I help Excel users move from fragile spreadsheets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to confident, scalable analysis.</a:t>
            </a:r>
          </a:p>
        </p:txBody>
      </p:sp>
      <p:pic>
        <p:nvPicPr>
          <p:cNvPr id="3" name="Picture 4" descr="Advancing into Analytics Cover Image">
            <a:extLst>
              <a:ext uri="{FF2B5EF4-FFF2-40B4-BE49-F238E27FC236}">
                <a16:creationId xmlns:a16="http://schemas.microsoft.com/office/drawing/2014/main" id="{588F684B-18EF-D76C-5F7B-15E4BAD606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77075" y="195640"/>
            <a:ext cx="3130385" cy="40886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6" descr="Free photos of Cleveland">
            <a:extLst>
              <a:ext uri="{FF2B5EF4-FFF2-40B4-BE49-F238E27FC236}">
                <a16:creationId xmlns:a16="http://schemas.microsoft.com/office/drawing/2014/main" id="{CBA53EEE-E3E1-D99E-A4DC-1C4DD2E6CE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5692" y="2968810"/>
            <a:ext cx="5535359" cy="36844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 descr="Logo&#10;&#10;Description automatically generated">
            <a:extLst>
              <a:ext uri="{FF2B5EF4-FFF2-40B4-BE49-F238E27FC236}">
                <a16:creationId xmlns:a16="http://schemas.microsoft.com/office/drawing/2014/main" id="{97E0F267-87DF-961E-1FAA-47FD4F27A5C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3691" y="6002696"/>
            <a:ext cx="7448309" cy="5462681"/>
          </a:xfrm>
          <a:prstGeom prst="rect">
            <a:avLst/>
          </a:prstGeom>
        </p:spPr>
      </p:pic>
      <p:pic>
        <p:nvPicPr>
          <p:cNvPr id="1026" name="Picture 2" descr="Modern data analytics in Excel book cover">
            <a:extLst>
              <a:ext uri="{FF2B5EF4-FFF2-40B4-BE49-F238E27FC236}">
                <a16:creationId xmlns:a16="http://schemas.microsoft.com/office/drawing/2014/main" id="{874ADA5E-A7A7-1D02-C728-513187DE1E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21136" y="2210054"/>
            <a:ext cx="3437261" cy="45079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Microsoft Most Valuable Professional - Wikipedia">
            <a:extLst>
              <a:ext uri="{FF2B5EF4-FFF2-40B4-BE49-F238E27FC236}">
                <a16:creationId xmlns:a16="http://schemas.microsoft.com/office/drawing/2014/main" id="{36C71929-5967-B93D-05FE-E330D621C5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642" y="7832951"/>
            <a:ext cx="5057775" cy="2028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Thais Cooke on LinkedIn: #linkedinlearninginstructor #linkedinlearning | 82  comments">
            <a:extLst>
              <a:ext uri="{FF2B5EF4-FFF2-40B4-BE49-F238E27FC236}">
                <a16:creationId xmlns:a16="http://schemas.microsoft.com/office/drawing/2014/main" id="{2E3C0D6C-F7C9-F3C4-3BAA-FF34E086E7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78000" y="5312978"/>
            <a:ext cx="333375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729011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/>
          <p:nvPr/>
        </p:nvSpPr>
        <p:spPr>
          <a:xfrm>
            <a:off x="520861" y="170082"/>
            <a:ext cx="1197979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0" dirty="0">
                <a:latin typeface="Aliens &amp; cows" panose="00000500000000000000" pitchFamily="2" charset="0"/>
              </a:rPr>
              <a:t>What to expect 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0861" y="3191948"/>
            <a:ext cx="1439312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Framing, not training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Real-world patterns I see constantly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A practical way to think about investment decisions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Time for questions</a:t>
            </a:r>
          </a:p>
        </p:txBody>
      </p:sp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29761B90-A7DE-4A60-A915-F085BD87CA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41036" y="8058429"/>
            <a:ext cx="1942857" cy="2228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70763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47FB9-2BEA-EB09-5CC2-1B97889172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990454E3-EE25-C43C-C7CF-5A3D31F83C60}"/>
              </a:ext>
            </a:extLst>
          </p:cNvPr>
          <p:cNvSpPr txBox="1"/>
          <p:nvPr/>
        </p:nvSpPr>
        <p:spPr>
          <a:xfrm>
            <a:off x="520861" y="170082"/>
            <a:ext cx="1197979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0" dirty="0">
                <a:latin typeface="Aliens &amp; cows" panose="00000500000000000000" pitchFamily="2" charset="0"/>
              </a:rPr>
              <a:t>The pattern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2C0497-325C-FDB1-6CB7-A7D1E6F726D1}"/>
              </a:ext>
            </a:extLst>
          </p:cNvPr>
          <p:cNvSpPr txBox="1"/>
          <p:nvPr/>
        </p:nvSpPr>
        <p:spPr>
          <a:xfrm>
            <a:off x="520860" y="3191948"/>
            <a:ext cx="17386139" cy="4524315"/>
          </a:xfrm>
          <a:prstGeom prst="rect">
            <a:avLst/>
          </a:prstGeom>
          <a:noFill/>
        </p:spPr>
        <p:txBody>
          <a:bodyPr wrap="square" numCol="2" rtlCol="0">
            <a:spAutoFit/>
          </a:bodyPr>
          <a:lstStyle/>
          <a:p>
            <a:pPr>
              <a:buClr>
                <a:srgbClr val="CF3338"/>
              </a:buClr>
            </a:pPr>
            <a:r>
              <a:rPr lang="en-US" sz="9600" dirty="0">
                <a:solidFill>
                  <a:srgbClr val="707070"/>
                </a:solidFill>
                <a:latin typeface="Pragmatica" panose="020B0403040502020204" pitchFamily="34" charset="0"/>
              </a:rPr>
              <a:t>New tools feel strategic</a:t>
            </a:r>
          </a:p>
          <a:p>
            <a:pPr>
              <a:buClr>
                <a:srgbClr val="CF3338"/>
              </a:buClr>
            </a:pPr>
            <a:endParaRPr lang="en-US" sz="9600" dirty="0">
              <a:solidFill>
                <a:srgbClr val="707070"/>
              </a:solidFill>
              <a:latin typeface="Pragmatica" panose="020B0403040502020204" pitchFamily="34" charset="0"/>
            </a:endParaRPr>
          </a:p>
          <a:p>
            <a:pPr>
              <a:buClr>
                <a:srgbClr val="CF3338"/>
              </a:buClr>
            </a:pPr>
            <a:r>
              <a:rPr lang="en-US" sz="9600" dirty="0">
                <a:solidFill>
                  <a:srgbClr val="707070"/>
                </a:solidFill>
                <a:latin typeface="Pragmatica" panose="020B0403040502020204" pitchFamily="34" charset="0"/>
              </a:rPr>
              <a:t>Familiar tools feel “basic”</a:t>
            </a:r>
          </a:p>
        </p:txBody>
      </p:sp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295F997A-DF9D-648A-00FF-C25BFFEF82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41036" y="8058429"/>
            <a:ext cx="1942857" cy="2228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01990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06FC4A-B81C-688C-5347-38DB7164C3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98FB5998-D249-F10F-70A3-2B61E12C012F}"/>
              </a:ext>
            </a:extLst>
          </p:cNvPr>
          <p:cNvSpPr txBox="1"/>
          <p:nvPr/>
        </p:nvSpPr>
        <p:spPr>
          <a:xfrm>
            <a:off x="520861" y="170082"/>
            <a:ext cx="1582017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0" dirty="0">
                <a:latin typeface="Aliens &amp; cows" panose="00000500000000000000" pitchFamily="2" charset="0"/>
              </a:rPr>
              <a:t>Why Excel is treated differently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EFF3D5E-0BBF-4B1D-3EBE-7FE78A3D1FBB}"/>
              </a:ext>
            </a:extLst>
          </p:cNvPr>
          <p:cNvSpPr txBox="1"/>
          <p:nvPr/>
        </p:nvSpPr>
        <p:spPr>
          <a:xfrm>
            <a:off x="520860" y="3191948"/>
            <a:ext cx="17386139" cy="2585323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1143000" indent="-11430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Everyone uses Excel</a:t>
            </a:r>
          </a:p>
          <a:p>
            <a:pPr marL="1143000" indent="-11430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No one owns it</a:t>
            </a:r>
          </a:p>
          <a:p>
            <a:pPr marL="1143000" indent="-11430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Everyone assumes proficiency</a:t>
            </a:r>
          </a:p>
        </p:txBody>
      </p:sp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8F0BFE9B-3C56-8419-9E98-D44987BB359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41036" y="8058429"/>
            <a:ext cx="1942857" cy="2228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51477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EA572-AFA7-6CB9-65DD-2EBE15E19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C6C6ADD-548B-8C85-38FF-967CA85D7E06}"/>
              </a:ext>
            </a:extLst>
          </p:cNvPr>
          <p:cNvSpPr txBox="1"/>
          <p:nvPr/>
        </p:nvSpPr>
        <p:spPr>
          <a:xfrm>
            <a:off x="520861" y="170082"/>
            <a:ext cx="1582017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0" dirty="0">
                <a:latin typeface="Aliens &amp; cows" panose="00000500000000000000" pitchFamily="2" charset="0"/>
              </a:rPr>
              <a:t>The cost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71A3AF-628B-B953-B773-490758775438}"/>
              </a:ext>
            </a:extLst>
          </p:cNvPr>
          <p:cNvSpPr txBox="1"/>
          <p:nvPr/>
        </p:nvSpPr>
        <p:spPr>
          <a:xfrm>
            <a:off x="520860" y="3191948"/>
            <a:ext cx="17386139" cy="3046988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>
              <a:buClr>
                <a:srgbClr val="CF3338"/>
              </a:buClr>
            </a:pPr>
            <a:r>
              <a:rPr lang="en-US" sz="9600" dirty="0">
                <a:solidFill>
                  <a:srgbClr val="707070"/>
                </a:solidFill>
                <a:latin typeface="Pragmatica" panose="020B0403040502020204" pitchFamily="34" charset="0"/>
              </a:rPr>
              <a:t>The cost rarely shows up as a budget line</a:t>
            </a:r>
          </a:p>
        </p:txBody>
      </p:sp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1FE04877-4BC3-B98A-65DA-936FD012A1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41036" y="8058429"/>
            <a:ext cx="1942857" cy="2228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40565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A2925-9DB2-4FA6-D557-629545963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3C63D05A-D3D9-4FF2-4D78-369A8BB6F1CD}"/>
              </a:ext>
            </a:extLst>
          </p:cNvPr>
          <p:cNvSpPr txBox="1"/>
          <p:nvPr/>
        </p:nvSpPr>
        <p:spPr>
          <a:xfrm>
            <a:off x="520861" y="170082"/>
            <a:ext cx="1582017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0" dirty="0">
                <a:latin typeface="Aliens &amp; cows" panose="00000500000000000000" pitchFamily="2" charset="0"/>
              </a:rPr>
              <a:t>The uncomfortable reality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E975280-85A9-CAEC-8F22-6869AB69DDBB}"/>
              </a:ext>
            </a:extLst>
          </p:cNvPr>
          <p:cNvSpPr txBox="1"/>
          <p:nvPr/>
        </p:nvSpPr>
        <p:spPr>
          <a:xfrm>
            <a:off x="520860" y="3191948"/>
            <a:ext cx="17386139" cy="3046988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>
              <a:buClr>
                <a:srgbClr val="CF3338"/>
              </a:buClr>
            </a:pPr>
            <a:r>
              <a:rPr lang="en-US" sz="9600" dirty="0">
                <a:solidFill>
                  <a:srgbClr val="707070"/>
                </a:solidFill>
                <a:latin typeface="Pragmatica" panose="020B0403040502020204" pitchFamily="34" charset="0"/>
              </a:rPr>
              <a:t>Excel is still where the decisions happen</a:t>
            </a:r>
          </a:p>
        </p:txBody>
      </p:sp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7F2926B4-328A-69B6-7B9C-562A74A033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41036" y="8058429"/>
            <a:ext cx="1942857" cy="2228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07087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0FC63E-7B99-CB22-039B-B88ADFEFFA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21703FDE-BBFD-41D7-6765-FEE8A4C0D9F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41036" y="8058429"/>
            <a:ext cx="1942857" cy="2228571"/>
          </a:xfrm>
          <a:prstGeom prst="rect">
            <a:avLst/>
          </a:prstGeom>
        </p:spPr>
      </p:pic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D86062FC-FF47-FE44-726C-17DECD74086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27263380"/>
              </p:ext>
            </p:extLst>
          </p:nvPr>
        </p:nvGraphicFramePr>
        <p:xfrm>
          <a:off x="990600" y="777329"/>
          <a:ext cx="15697200" cy="85344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93C97DD4-F47D-6E58-73AA-13C8C6ACE60B}"/>
              </a:ext>
            </a:extLst>
          </p:cNvPr>
          <p:cNvSpPr txBox="1"/>
          <p:nvPr/>
        </p:nvSpPr>
        <p:spPr>
          <a:xfrm>
            <a:off x="5486400" y="9311729"/>
            <a:ext cx="73152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dirty="0"/>
              <a:t>Low standardization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DF2313-704D-E71D-0964-D6A5300933C5}"/>
              </a:ext>
            </a:extLst>
          </p:cNvPr>
          <p:cNvSpPr txBox="1"/>
          <p:nvPr/>
        </p:nvSpPr>
        <p:spPr>
          <a:xfrm>
            <a:off x="5181600" y="-71049"/>
            <a:ext cx="73152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dirty="0"/>
              <a:t>High standardization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68F59D2-7CF8-BD28-18BC-C71665E1B0CD}"/>
              </a:ext>
            </a:extLst>
          </p:cNvPr>
          <p:cNvSpPr txBox="1"/>
          <p:nvPr/>
        </p:nvSpPr>
        <p:spPr>
          <a:xfrm>
            <a:off x="533400" y="4420225"/>
            <a:ext cx="403860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dirty="0"/>
              <a:t>Low uncertainty of work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12B87A-730C-4BFD-0437-996DF9C3BFC4}"/>
              </a:ext>
            </a:extLst>
          </p:cNvPr>
          <p:cNvSpPr txBox="1"/>
          <p:nvPr/>
        </p:nvSpPr>
        <p:spPr>
          <a:xfrm>
            <a:off x="13092545" y="4420225"/>
            <a:ext cx="403860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dirty="0"/>
              <a:t>High uncertainty of work</a:t>
            </a:r>
          </a:p>
        </p:txBody>
      </p:sp>
    </p:spTree>
    <p:extLst>
      <p:ext uri="{BB962C8B-B14F-4D97-AF65-F5344CB8AC3E}">
        <p14:creationId xmlns:p14="http://schemas.microsoft.com/office/powerpoint/2010/main" val="14443726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706ECA-275A-85BE-D4AF-CFD4EFDEE7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15B56843-EF97-49F8-3725-5D06D93508AA}"/>
              </a:ext>
            </a:extLst>
          </p:cNvPr>
          <p:cNvSpPr txBox="1"/>
          <p:nvPr/>
        </p:nvSpPr>
        <p:spPr>
          <a:xfrm>
            <a:off x="520861" y="170082"/>
            <a:ext cx="1582017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0" dirty="0">
                <a:latin typeface="Aliens &amp; cows" panose="00000500000000000000" pitchFamily="2" charset="0"/>
              </a:rPr>
              <a:t>The real bottleneck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264B2A-902E-514D-DA3A-3072188180DC}"/>
              </a:ext>
            </a:extLst>
          </p:cNvPr>
          <p:cNvSpPr txBox="1"/>
          <p:nvPr/>
        </p:nvSpPr>
        <p:spPr>
          <a:xfrm>
            <a:off x="520860" y="3191948"/>
            <a:ext cx="17386139" cy="3046988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>
              <a:buClr>
                <a:srgbClr val="CF3338"/>
              </a:buClr>
            </a:pPr>
            <a:r>
              <a:rPr lang="en-US" sz="9600" dirty="0">
                <a:solidFill>
                  <a:srgbClr val="707070"/>
                </a:solidFill>
                <a:latin typeface="Pragmatica" panose="020B0403040502020204" pitchFamily="34" charset="0"/>
              </a:rPr>
              <a:t>Most analytics problems are not tool problems</a:t>
            </a:r>
          </a:p>
        </p:txBody>
      </p:sp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C98DE326-0DB2-B1A2-295E-76315D924D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41036" y="8058429"/>
            <a:ext cx="1942857" cy="2228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89621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C1777-D65D-7119-C941-C4F97BB76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294F26F9-15A2-B6BE-29C3-52E4D0952A75}"/>
              </a:ext>
            </a:extLst>
          </p:cNvPr>
          <p:cNvSpPr txBox="1"/>
          <p:nvPr/>
        </p:nvSpPr>
        <p:spPr>
          <a:xfrm>
            <a:off x="520861" y="170082"/>
            <a:ext cx="1582017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200" dirty="0">
                <a:latin typeface="Aliens &amp; cows" panose="00000500000000000000" pitchFamily="2" charset="0"/>
              </a:rPr>
              <a:t>What changes when Excel is treated seriously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9820E0-0640-1735-7803-7644B510EF88}"/>
              </a:ext>
            </a:extLst>
          </p:cNvPr>
          <p:cNvSpPr txBox="1"/>
          <p:nvPr/>
        </p:nvSpPr>
        <p:spPr>
          <a:xfrm>
            <a:off x="520860" y="3191948"/>
            <a:ext cx="17386139" cy="4708981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>
              <a:buClr>
                <a:srgbClr val="CF3338"/>
              </a:buClr>
            </a:pPr>
            <a:r>
              <a:rPr lang="en-US" sz="6000" dirty="0">
                <a:solidFill>
                  <a:srgbClr val="707070"/>
                </a:solidFill>
                <a:latin typeface="Pragmatica" panose="020B0403040502020204" pitchFamily="34" charset="0"/>
              </a:rPr>
              <a:t>Teams:</a:t>
            </a:r>
          </a:p>
          <a:p>
            <a:pPr marL="1143000" indent="-11430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6000" dirty="0">
                <a:solidFill>
                  <a:srgbClr val="707070"/>
                </a:solidFill>
                <a:latin typeface="Pragmatica" panose="020B0403040502020204" pitchFamily="34" charset="0"/>
              </a:rPr>
              <a:t>Spend less time rebuilding</a:t>
            </a:r>
          </a:p>
          <a:p>
            <a:pPr marL="1143000" indent="-11430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6000" dirty="0">
                <a:solidFill>
                  <a:srgbClr val="707070"/>
                </a:solidFill>
                <a:latin typeface="Pragmatica" panose="020B0403040502020204" pitchFamily="34" charset="0"/>
              </a:rPr>
              <a:t>Trust outputs more</a:t>
            </a:r>
          </a:p>
          <a:p>
            <a:pPr marL="1143000" indent="-11430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6000" dirty="0">
                <a:solidFill>
                  <a:srgbClr val="707070"/>
                </a:solidFill>
                <a:latin typeface="Pragmatica" panose="020B0403040502020204" pitchFamily="34" charset="0"/>
              </a:rPr>
              <a:t>Argue about assumptions instead of formulas</a:t>
            </a:r>
          </a:p>
          <a:p>
            <a:pPr marL="1143000" indent="-11430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6000" dirty="0">
                <a:solidFill>
                  <a:srgbClr val="707070"/>
                </a:solidFill>
                <a:latin typeface="Pragmatica" panose="020B0403040502020204" pitchFamily="34" charset="0"/>
              </a:rPr>
              <a:t>Use fewer tools, more effectively</a:t>
            </a:r>
          </a:p>
        </p:txBody>
      </p:sp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AF061544-57C8-FBF9-3B69-ED5F9437A39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41036" y="8058429"/>
            <a:ext cx="1942857" cy="2228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22969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F50F1-8925-7F80-6FF2-9CDD5291DC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42AD75C3-9F4D-418E-B043-F732D5BD41E2}"/>
              </a:ext>
            </a:extLst>
          </p:cNvPr>
          <p:cNvSpPr txBox="1"/>
          <p:nvPr/>
        </p:nvSpPr>
        <p:spPr>
          <a:xfrm>
            <a:off x="520861" y="170082"/>
            <a:ext cx="1582017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200" dirty="0">
                <a:latin typeface="Aliens &amp; cows" panose="00000500000000000000" pitchFamily="2" charset="0"/>
              </a:rPr>
              <a:t>How I work</a:t>
            </a:r>
          </a:p>
        </p:txBody>
      </p:sp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703EAF2E-1015-EF78-A03B-7C03DD834B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41036" y="8058429"/>
            <a:ext cx="1942857" cy="2228571"/>
          </a:xfrm>
          <a:prstGeom prst="rect">
            <a:avLst/>
          </a:prstGeom>
        </p:spPr>
      </p:pic>
      <p:graphicFrame>
        <p:nvGraphicFramePr>
          <p:cNvPr id="2" name="Content Placeholder 14">
            <a:extLst>
              <a:ext uri="{FF2B5EF4-FFF2-40B4-BE49-F238E27FC236}">
                <a16:creationId xmlns:a16="http://schemas.microsoft.com/office/drawing/2014/main" id="{52B598D1-E680-7B8C-193D-22217B6B4BA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06547975"/>
              </p:ext>
            </p:extLst>
          </p:nvPr>
        </p:nvGraphicFramePr>
        <p:xfrm>
          <a:off x="381000" y="2110225"/>
          <a:ext cx="16078200" cy="74528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7186788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9FB51A-F3F3-B434-5667-F0B60F8AE1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3860D726-DC49-1582-97D3-37FEE7A875D3}"/>
              </a:ext>
            </a:extLst>
          </p:cNvPr>
          <p:cNvSpPr txBox="1"/>
          <p:nvPr/>
        </p:nvSpPr>
        <p:spPr>
          <a:xfrm>
            <a:off x="520861" y="170082"/>
            <a:ext cx="1582017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200" dirty="0">
                <a:latin typeface="Aliens &amp; cows" panose="00000500000000000000" pitchFamily="2" charset="0"/>
              </a:rPr>
              <a:t>Closing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704835-106D-E730-EC07-308FC714EF9B}"/>
              </a:ext>
            </a:extLst>
          </p:cNvPr>
          <p:cNvSpPr txBox="1"/>
          <p:nvPr/>
        </p:nvSpPr>
        <p:spPr>
          <a:xfrm>
            <a:off x="520860" y="3191948"/>
            <a:ext cx="17386139" cy="3785652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>
              <a:buClr>
                <a:srgbClr val="CF3338"/>
              </a:buClr>
            </a:pPr>
            <a:r>
              <a:rPr lang="en-US" sz="8000" dirty="0">
                <a:solidFill>
                  <a:srgbClr val="707070"/>
                </a:solidFill>
                <a:latin typeface="Pragmatica" panose="020B0403040502020204" pitchFamily="34" charset="0"/>
              </a:rPr>
              <a:t>The cheapest place to fix many analytics problems…</a:t>
            </a:r>
          </a:p>
          <a:p>
            <a:pPr>
              <a:buClr>
                <a:srgbClr val="CF3338"/>
              </a:buClr>
            </a:pPr>
            <a:r>
              <a:rPr lang="en-US" sz="8000" dirty="0">
                <a:solidFill>
                  <a:srgbClr val="707070"/>
                </a:solidFill>
                <a:latin typeface="Pragmatica" panose="020B0403040502020204" pitchFamily="34" charset="0"/>
              </a:rPr>
              <a:t>… is the tool you already rely on most</a:t>
            </a:r>
          </a:p>
        </p:txBody>
      </p:sp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987893A6-96D7-FCC1-3CB4-4AB6DEA45C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41036" y="8058429"/>
            <a:ext cx="1942857" cy="2228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85016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00303B-EC3F-154C-4187-DAD9F963A8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89337513-DF97-4B7C-B839-0CA68CFA33D1}"/>
              </a:ext>
            </a:extLst>
          </p:cNvPr>
          <p:cNvSpPr txBox="1"/>
          <p:nvPr/>
        </p:nvSpPr>
        <p:spPr>
          <a:xfrm>
            <a:off x="520861" y="170082"/>
            <a:ext cx="1582017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200" dirty="0"/>
              <a:t>Logistics &amp; next steps</a:t>
            </a:r>
            <a:endParaRPr lang="en-US" sz="7200" dirty="0">
              <a:latin typeface="Aliens &amp; cows" panose="00000500000000000000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F226B1-D3F7-6EB4-4E25-3386E315DCCE}"/>
              </a:ext>
            </a:extLst>
          </p:cNvPr>
          <p:cNvSpPr txBox="1"/>
          <p:nvPr/>
        </p:nvSpPr>
        <p:spPr>
          <a:xfrm>
            <a:off x="520860" y="3191948"/>
            <a:ext cx="17386139" cy="2123658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1143000" indent="-11430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6600" dirty="0">
                <a:solidFill>
                  <a:srgbClr val="707070"/>
                </a:solidFill>
                <a:latin typeface="Pragmatica" panose="020B0403040502020204" pitchFamily="34" charset="0"/>
              </a:rPr>
              <a:t>Slides will be shared with registered attendees</a:t>
            </a:r>
          </a:p>
          <a:p>
            <a:pPr marL="1143000" indent="-11430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6600" dirty="0">
                <a:solidFill>
                  <a:srgbClr val="707070"/>
                </a:solidFill>
                <a:latin typeface="Pragmatica" panose="020B0403040502020204" pitchFamily="34" charset="0"/>
              </a:rPr>
              <a:t>Recording will be emailed after the session</a:t>
            </a:r>
          </a:p>
        </p:txBody>
      </p:sp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1087ADAD-48EF-5418-C024-9A7320E942D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41036" y="8058429"/>
            <a:ext cx="1942857" cy="2228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80485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5323C9-D5F7-C820-78B9-E169BDF231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8971779-1F50-1702-DEC1-87CD482189F0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CC4C7B-C529-5329-03AC-796804551DC1}"/>
              </a:ext>
            </a:extLst>
          </p:cNvPr>
          <p:cNvSpPr txBox="1"/>
          <p:nvPr/>
        </p:nvSpPr>
        <p:spPr>
          <a:xfrm>
            <a:off x="781292" y="590309"/>
            <a:ext cx="15486926" cy="16158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900" b="1" dirty="0">
                <a:solidFill>
                  <a:schemeClr val="bg1"/>
                </a:solidFill>
                <a:latin typeface="Normafixed Tryout" panose="00000409000000000000" pitchFamily="49" charset="0"/>
              </a:rPr>
              <a:t>Q&amp;A</a:t>
            </a:r>
          </a:p>
        </p:txBody>
      </p:sp>
    </p:spTree>
    <p:extLst>
      <p:ext uri="{BB962C8B-B14F-4D97-AF65-F5344CB8AC3E}">
        <p14:creationId xmlns:p14="http://schemas.microsoft.com/office/powerpoint/2010/main" val="6578290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0C042-4FA7-C99A-DB6A-E56C8A4C9F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38FBC8C-6CC2-040B-E74D-EA0547D9066A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3242B5A-8DE0-9FEB-CCC9-737A969B938A}"/>
              </a:ext>
            </a:extLst>
          </p:cNvPr>
          <p:cNvSpPr txBox="1"/>
          <p:nvPr/>
        </p:nvSpPr>
        <p:spPr>
          <a:xfrm>
            <a:off x="781292" y="590309"/>
            <a:ext cx="15486926" cy="16158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900" b="1" dirty="0">
                <a:solidFill>
                  <a:schemeClr val="bg1"/>
                </a:solidFill>
                <a:latin typeface="Normafixed Tryout" panose="00000409000000000000" pitchFamily="49" charset="0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39986720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2688</TotalTime>
  <Words>1663</Words>
  <Application>Microsoft Office PowerPoint</Application>
  <PresentationFormat>Custom</PresentationFormat>
  <Paragraphs>202</Paragraphs>
  <Slides>15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Normafixed Tryout</vt:lpstr>
      <vt:lpstr>Pragmatica</vt:lpstr>
      <vt:lpstr>Aliens &amp; cows</vt:lpstr>
      <vt:lpstr>Calibri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excel-statistics-for-business-analytics</dc:title>
  <dc:creator>User</dc:creator>
  <cp:lastModifiedBy>George Mount</cp:lastModifiedBy>
  <cp:revision>242</cp:revision>
  <dcterms:created xsi:type="dcterms:W3CDTF">2006-08-16T00:00:00Z</dcterms:created>
  <dcterms:modified xsi:type="dcterms:W3CDTF">2026-02-03T14:19:26Z</dcterms:modified>
  <dc:identifier>DADurESpNu8</dc:identifier>
</cp:coreProperties>
</file>